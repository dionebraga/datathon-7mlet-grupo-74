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80" r:id="rId22"/>
    <p:sldId id="281" r:id="rId23"/>
    <p:sldId id="276" r:id="rId24"/>
    <p:sldId id="278" r:id="rId25"/>
    <p:sldId id="274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54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0000">
              <a:alpha val="8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FIAP PÓS-TECH · 7MLET · DATATHON · GRUPO 74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Offers Platform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ofertas financeiras em tempo real com multi-armed bandits contextuais e assistente LLM/RAG.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198973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4114800"/>
            <a:ext cx="19897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Contextual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57830" y="411480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757830" y="41148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Margin-Weighted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1222" y="4114800"/>
            <a:ext cx="1397203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1222" y="4114800"/>
            <a:ext cx="13972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9594" y="4114800"/>
            <a:ext cx="705917" cy="384048"/>
          </a:xfrm>
          <a:prstGeom prst="roundRect">
            <a:avLst>
              <a:gd name="adj" fmla="val 50000"/>
            </a:avLst>
          </a:prstGeom>
          <a:solidFill>
            <a:srgbClr val="0070F3">
              <a:alpha val="22000"/>
            </a:srgbClr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49594" y="4114800"/>
            <a:ext cx="7059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70448"/>
            <a:ext cx="164592" cy="164592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59536" y="574243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 ·  Grupo 74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64424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© 2026 · Licença MIT</a:t>
            </a:r>
            <a:endParaRPr lang="en-US" sz="1100" dirty="0"/>
          </a:p>
        </p:txBody>
      </p:sp>
      <p:sp>
        <p:nvSpPr>
          <p:cNvPr id="18" name="ao_logo_badge"/>
          <p:cNvSpPr/>
          <p:nvPr/>
        </p:nvSpPr>
        <p:spPr>
          <a:xfrm>
            <a:off x="11089386" y="342138"/>
            <a:ext cx="687324" cy="687324"/>
          </a:xfrm>
          <a:prstGeom prst="roundRect">
            <a:avLst>
              <a:gd name="adj" fmla="val 28000"/>
            </a:avLst>
          </a:prstGeom>
          <a:solidFill>
            <a:srgbClr val="030D24"/>
          </a:solidFill>
          <a:ln w="19050">
            <a:solidFill>
              <a:srgbClr val="1A6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237785" y="748284"/>
            <a:ext cx="81229" cy="140589"/>
          </a:xfrm>
          <a:prstGeom prst="roundRect">
            <a:avLst>
              <a:gd name="adj" fmla="val 35000"/>
            </a:avLst>
          </a:prstGeom>
          <a:solidFill>
            <a:srgbClr val="14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376812" y="654558"/>
            <a:ext cx="81229" cy="234315"/>
          </a:xfrm>
          <a:prstGeom prst="roundRect">
            <a:avLst>
              <a:gd name="adj" fmla="val 35000"/>
            </a:avLst>
          </a:prstGeom>
          <a:solidFill>
            <a:srgbClr val="1A6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515839" y="545211"/>
            <a:ext cx="81229" cy="343662"/>
          </a:xfrm>
          <a:prstGeom prst="roundRect">
            <a:avLst>
              <a:gd name="adj" fmla="val 35000"/>
            </a:avLst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11229975" y="685800"/>
            <a:ext cx="187452" cy="101536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417427" y="506158"/>
            <a:ext cx="140589" cy="179642"/>
          </a:xfrm>
          <a:prstGeom prst="line">
            <a:avLst/>
          </a:prstGeom>
          <a:ln w="203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1500218" y="448360"/>
            <a:ext cx="115595" cy="115595"/>
          </a:xfrm>
          <a:prstGeom prst="ellipse">
            <a:avLst/>
          </a:prstGeom>
          <a:solidFill>
            <a:srgbClr val="FFC200"/>
          </a:solidFill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 impressão é uma decisão de valor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59536" y="2194560"/>
            <a:ext cx="182880" cy="182880"/>
          </a:xfrm>
          <a:prstGeom prst="ellipse">
            <a:avLst/>
          </a:prstGeom>
          <a:solidFill>
            <a:srgbClr val="E84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133856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Regras fixas envelhecem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9536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idade &gt; 60, mostre depósito.” Não aprendem com o comportamento e ficam obsoletas.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73880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666488" y="2194560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40808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Testes A/B são lentos e caros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66488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Queimam semanas de tráfego na variante ruim até atingir significância estatística.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0832" y="1874520"/>
            <a:ext cx="3441192" cy="2148840"/>
          </a:xfrm>
          <a:prstGeom prst="roundRect">
            <a:avLst>
              <a:gd name="adj" fmla="val 383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473440" y="2194560"/>
            <a:ext cx="182880" cy="182880"/>
          </a:xfrm>
          <a:prstGeom prst="ellipse">
            <a:avLst/>
          </a:prstGeom>
          <a:solidFill>
            <a:srgbClr val="3291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747760" y="2103120"/>
            <a:ext cx="26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≠ lucro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73440" y="2697480"/>
            <a:ext cx="2855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Otimizar cliques ignora a margem e o contexto — você converte mais e ganha menos.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3484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6161A"/>
          </a:solidFill>
          <a:ln w="17780">
            <a:solidFill>
              <a:srgbClr val="0070F3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2412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PERGUNTA CENTRAL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4983480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oferta mostrar para </a:t>
            </a: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este</a:t>
            </a: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cliente, </a:t>
            </a:r>
            <a:r>
              <a:rPr lang="en-US" sz="2600" b="1" i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</a:t>
            </a: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para maximizar o valor?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ABORDAGEM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sistema que decide, aprende e se explica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77824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77824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Bandit contextual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vs. explota e aprende online a cada decisão — sem esperar o fim de um A/B.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LinUCB · Thompson · UCB-V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3880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84776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4776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4776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Recompensa por margem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4776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P(conversão) × margem. Otimiza lucro, não cliques.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4776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684776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Margin-Weighted Ranking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80832" y="1920240"/>
            <a:ext cx="3441192" cy="3383280"/>
          </a:xfrm>
          <a:prstGeom prst="roundRect">
            <a:avLst>
              <a:gd name="adj" fmla="val 243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491728" y="2240280"/>
            <a:ext cx="512064" cy="51206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49172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91728" y="2971800"/>
            <a:ext cx="281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Assistente LLM + RAG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91728" y="3520440"/>
            <a:ext cx="2819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experimentos e explica cada decisão com reason codes auditáveis.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91728" y="4736592"/>
            <a:ext cx="2819400" cy="0"/>
          </a:xfrm>
          <a:prstGeom prst="line">
            <a:avLst/>
          </a:prstGeom>
          <a:noFill/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491728" y="4828032"/>
            <a:ext cx="281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Explicabilidade · offline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&amp; ENRIQUECIMENTO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 + camada sintética com oráculo conhecido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5953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59536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factual real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Marketing real (UCI · 41.188 contatos públicos). Sem vazamento: duration removido.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4968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65320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5792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7928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 sintética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7928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offer_catalog, offer_events e delayed rewards gerados por seeds reprodutíveis.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33360" y="31546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363712" y="2057400"/>
            <a:ext cx="3258312" cy="2651760"/>
          </a:xfrm>
          <a:prstGeom prst="roundRect">
            <a:avLst>
              <a:gd name="adj" fmla="val 310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563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656320" y="3035808"/>
            <a:ext cx="26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Oráculo → Regret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56320" y="3547872"/>
            <a:ext cx="2673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conhecemos o ótimo do gerador, medimos regret (distância do ótimo).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32688" y="5029200"/>
            <a:ext cx="10323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29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sintético?  </a:t>
            </a:r>
            <a:r>
              <a:rPr lang="en-US" sz="14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atrasadas, oráculo mensurável e conformidade — nenhum dado pessoal real é usado (LGPD by design).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MODELAGEM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políticas competindo (+1 neural)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66928" y="2075688"/>
            <a:ext cx="64008" cy="1106424"/>
          </a:xfrm>
          <a:prstGeom prst="rect">
            <a:avLst/>
          </a:prstGeom>
          <a:solidFill>
            <a:srgbClr val="5252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77824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77824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guloso — referência para medir o lift.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965960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277356" y="2075688"/>
            <a:ext cx="64008" cy="1106424"/>
          </a:xfrm>
          <a:prstGeom prst="rect">
            <a:avLst/>
          </a:prstGeom>
          <a:solidFill>
            <a:srgbClr val="1A9E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8252" y="2167128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588252" y="2606040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Beta-Bernoulli. Exploração probabilística por amostragem.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3694176"/>
            <a:ext cx="64008" cy="1106424"/>
          </a:xfrm>
          <a:prstGeom prst="rect">
            <a:avLst/>
          </a:prstGeom>
          <a:solidFill>
            <a:srgbClr val="3291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77824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(UCB-V)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77824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Otimismo consciente da variância do braço.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7356" y="3584448"/>
            <a:ext cx="5344668" cy="1325880"/>
          </a:xfrm>
          <a:prstGeom prst="roundRect">
            <a:avLst>
              <a:gd name="adj" fmla="val 620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77356" y="3694176"/>
            <a:ext cx="64008" cy="1106424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8252" y="3785616"/>
            <a:ext cx="4704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(contextual)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588252" y="4224528"/>
            <a:ext cx="4704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linear sobre o contexto — menor regret nos dados reais.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4406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9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5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Bandit (PyTorch MLP, MC-dropout) como 5ª política opcional · </a:t>
            </a: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e recompensas atrasadas tratados explicitamente.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BRAÇOS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ofertas, margens diferentes — por isso a margem importa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Empréstimo Pré-aprovado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767328" y="202082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643616" y="1965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R$ 300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67328" y="2276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· restrita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5694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Depósito a Prazo Premium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67328" y="2624328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767328" y="2624328"/>
            <a:ext cx="4511040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643616" y="25694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28803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 · padrão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17296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Intro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767328" y="3227832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767328" y="3227832"/>
            <a:ext cx="4059936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643616" y="31729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6732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 · restrita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7764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Cartão Cashback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767328" y="3831336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767328" y="3831336"/>
            <a:ext cx="2706624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643616" y="3776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4087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· padrão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 Bundle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767328" y="4434840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767328" y="4434840"/>
            <a:ext cx="2029968" cy="274320"/>
          </a:xfrm>
          <a:prstGeom prst="roundRect">
            <a:avLst>
              <a:gd name="adj" fmla="val 50000"/>
            </a:avLst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643616" y="43799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R$ 90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67328" y="4690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 · padrão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4983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Oferta (controle)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767328" y="5038344"/>
            <a:ext cx="6766560" cy="274320"/>
          </a:xfrm>
          <a:prstGeom prst="roundRect">
            <a:avLst>
              <a:gd name="adj" fmla="val 500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767328" y="5038344"/>
            <a:ext cx="109728" cy="274320"/>
          </a:xfrm>
          <a:prstGeom prst="roundRect">
            <a:avLst>
              <a:gd name="adj" fmla="val 125000"/>
            </a:avLst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643616" y="4983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67328" y="52943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" y="598932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04672" y="5907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restrita (gate de elegibilidade/suitability)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13248" y="5989320"/>
            <a:ext cx="146304" cy="146304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650992" y="5907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DECISÃO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→ elegibilidade → política → log auditável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324966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32496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idade, canal, juros, histórico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4020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281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90849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90849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4253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Elegibilidade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6082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suitability / risco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6086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98694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856732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6732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8422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 ativa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6710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braço de maior valor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71970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64578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22615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22615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74306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codes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2594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versão da política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37853" y="246888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30461" y="1965960"/>
            <a:ext cx="1991563" cy="1783080"/>
          </a:xfrm>
          <a:prstGeom prst="roundRect">
            <a:avLst>
              <a:gd name="adj" fmla="val 4615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388498" y="2194560"/>
            <a:ext cx="475488" cy="475488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0388498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40189" y="2788920"/>
            <a:ext cx="1772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auditável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58477" y="3154680"/>
            <a:ext cx="1735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(LGPD)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160520"/>
            <a:ext cx="11055096" cy="1691640"/>
          </a:xfrm>
          <a:prstGeom prst="roundRect">
            <a:avLst>
              <a:gd name="adj" fmla="val 5405"/>
            </a:avLst>
          </a:prstGeom>
          <a:solidFill>
            <a:srgbClr val="16161A"/>
          </a:solidFill>
          <a:ln w="16510">
            <a:solidFill>
              <a:srgbClr val="1A9E1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78408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EXEMPLO REAL — MARGEM VENCE CONVERSÃO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" y="4709160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 60 anos, com empréstimo ativo  →  escolhido: </a:t>
            </a:r>
            <a:r>
              <a:rPr lang="en-US" sz="19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Fundo de Investimento (R$ 15,4)</a:t>
            </a:r>
            <a:r>
              <a:rPr lang="en-US" sz="1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978408" y="5212080"/>
            <a:ext cx="10232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Seguro tinha MAIOR conversão (10,9%), mas a margem baixa (R$90) perdeu para o Fundo (8,6% × R$180). A oferta de Empréstimo foi filtrada pela elegibilidade.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6692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300">
                <a:solidFill>
                  <a:srgbClr val="3291FF"/>
                </a:solidFill>
                <a:latin typeface="Consolas"/>
              </a:rPr>
              <a:t>DA DECISÃO À AÇÃO · ORQUESTRAÇÃO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EDEDED"/>
                </a:solidFill>
                <a:latin typeface="Trebuchet MS"/>
              </a:rPr>
              <a:t>Oferta → canal → mensagem → 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1790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>
                <a:solidFill>
                  <a:srgbClr val="9A9AA6"/>
                </a:solidFill>
                <a:latin typeface="Calibri"/>
              </a:rPr>
              <a:t>O bandit decide </a:t>
            </a:r>
            <a:r>
              <a:rPr sz="1350" b="1" i="1">
                <a:solidFill>
                  <a:srgbClr val="3291FF"/>
                </a:solidFill>
                <a:latin typeface="Calibri"/>
              </a:rPr>
              <a:t>o quê</a:t>
            </a:r>
            <a:r>
              <a:rPr sz="1350" b="0" i="0">
                <a:solidFill>
                  <a:srgbClr val="9A9AA6"/>
                </a:solidFill>
                <a:latin typeface="Calibri"/>
              </a:rPr>
              <a:t>; quatro camadas determinísticas decidem </a:t>
            </a:r>
            <a:r>
              <a:rPr sz="1350" b="1" i="1">
                <a:solidFill>
                  <a:srgbClr val="3291FF"/>
                </a:solidFill>
                <a:latin typeface="Calibri"/>
              </a:rPr>
              <a:t>onde, como e o próximo passo</a:t>
            </a:r>
            <a:r>
              <a:rPr sz="1350" b="0" i="0">
                <a:solidFill>
                  <a:srgbClr val="9A9AA6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084831"/>
            <a:ext cx="5353812" cy="1847088"/>
          </a:xfrm>
          <a:prstGeom prst="roundRect">
            <a:avLst>
              <a:gd name="adj" fmla="val 6000"/>
            </a:avLst>
          </a:prstGeom>
          <a:solidFill>
            <a:srgbClr val="0C0C0E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" y="2395727"/>
            <a:ext cx="182880" cy="182880"/>
          </a:xfrm>
          <a:prstGeom prst="ellipse">
            <a:avLst/>
          </a:prstGeom>
          <a:solidFill>
            <a:srgbClr val="007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0432" y="2322576"/>
            <a:ext cx="44394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0070F3"/>
                </a:solidFill>
                <a:latin typeface="Trebuchet MS"/>
              </a:rPr>
              <a:t>1</a:t>
            </a:r>
            <a:r>
              <a:rPr sz="1600" b="1" i="0">
                <a:solidFill>
                  <a:srgbClr val="EDEDED"/>
                </a:solidFill>
                <a:latin typeface="Trebuchet MS"/>
              </a:rPr>
              <a:t>  Segmentação comportamental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26079"/>
            <a:ext cx="475030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9A9AA6"/>
                </a:solidFill>
                <a:latin typeface="Calibri"/>
              </a:rPr>
              <a:t>6 personas determinísticas das features reais (renegociador, sênior, jovem digital…). Leitura humana do book de clientes.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8212" y="2084831"/>
            <a:ext cx="5353812" cy="1847088"/>
          </a:xfrm>
          <a:prstGeom prst="roundRect">
            <a:avLst>
              <a:gd name="adj" fmla="val 6000"/>
            </a:avLst>
          </a:prstGeom>
          <a:solidFill>
            <a:srgbClr val="0C0C0E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60820" y="2395727"/>
            <a:ext cx="182880" cy="18288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1716" y="2322576"/>
            <a:ext cx="44394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Trebuchet MS"/>
              </a:rPr>
              <a:t>2</a:t>
            </a:r>
            <a:r>
              <a:rPr sz="1600" b="1" i="0">
                <a:solidFill>
                  <a:srgbClr val="EDEDED"/>
                </a:solidFill>
                <a:latin typeface="Trebuchet MS"/>
              </a:rPr>
              <a:t>  Orquestração multi-canal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9107" y="2926079"/>
            <a:ext cx="475030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9A9AA6"/>
                </a:solidFill>
                <a:latin typeface="Calibri"/>
              </a:rPr>
              <a:t>App push · e-mail · SMS · voz com frequency cap e horário de silêncio. Guardrail auditável com reason codes.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87952"/>
            <a:ext cx="5353812" cy="1847088"/>
          </a:xfrm>
          <a:prstGeom prst="roundRect">
            <a:avLst>
              <a:gd name="adj" fmla="val 6000"/>
            </a:avLst>
          </a:prstGeom>
          <a:solidFill>
            <a:srgbClr val="0C0C0E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4498848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425696"/>
            <a:ext cx="44394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Trebuchet MS"/>
              </a:rPr>
              <a:t>3</a:t>
            </a:r>
            <a:r>
              <a:rPr sz="1600" b="1" i="0">
                <a:solidFill>
                  <a:srgbClr val="EDEDED"/>
                </a:solidFill>
                <a:latin typeface="Trebuchet MS"/>
              </a:rPr>
              <a:t>  Next-Best-Action (NBA)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029200"/>
            <a:ext cx="475030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9A9AA6"/>
                </a:solidFill>
                <a:latin typeface="Calibri"/>
              </a:rPr>
              <a:t>Mensagem por template governado + próximo passo (SIMULATE_LOAN, OPEN_DEPOSIT). Nunca texto livre do LLM.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8212" y="4187952"/>
            <a:ext cx="5353812" cy="1847088"/>
          </a:xfrm>
          <a:prstGeom prst="roundRect">
            <a:avLst>
              <a:gd name="adj" fmla="val 6000"/>
            </a:avLst>
          </a:prstGeom>
          <a:solidFill>
            <a:srgbClr val="0C0C0E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60820" y="4498848"/>
            <a:ext cx="182880" cy="182880"/>
          </a:xfrm>
          <a:prstGeom prst="ellipse">
            <a:avLst/>
          </a:prstGeom>
          <a:solidFill>
            <a:srgbClr val="329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71716" y="4425696"/>
            <a:ext cx="44394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3291FF"/>
                </a:solidFill>
                <a:latin typeface="Trebuchet MS"/>
              </a:rPr>
              <a:t>4</a:t>
            </a:r>
            <a:r>
              <a:rPr sz="1600" b="1" i="0">
                <a:solidFill>
                  <a:srgbClr val="EDEDED"/>
                </a:solidFill>
                <a:latin typeface="Trebuchet MS"/>
              </a:rPr>
              <a:t>  IA responsável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107" y="5029200"/>
            <a:ext cx="475030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9A9AA6"/>
                </a:solidFill>
                <a:latin typeface="Calibri"/>
              </a:rPr>
              <a:t>Atributos protegidos + fairness por grupo: exposição 0,00 · valor 0,24 (≤30) — suitability, auditado, nunca decide.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spc="200">
                <a:solidFill>
                  <a:srgbClr val="5A5A63"/>
                </a:solidFill>
                <a:latin typeface="Consolas"/>
              </a:rPr>
              <a:t>ADAPTIVE OFFERS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 spc="200">
                <a:solidFill>
                  <a:srgbClr val="5A5A63"/>
                </a:solidFill>
                <a:latin typeface="Consolas"/>
              </a:rPr>
              <a:t>GRUPO 74 · FIAP PÓS-TECH 7MLET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070F3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EVIDÊNCIAS · BASE REAL (KAGGLE/UCI)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 base real, o aprendizado supera a regra fixa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+9,2%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valor vs. baseline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9282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90722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8,3%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90722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 (LinUCB)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23076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23076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conversão (LinUCB)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63990" y="1783080"/>
            <a:ext cx="2558034" cy="1280160"/>
          </a:xfrm>
          <a:prstGeom prst="roundRect">
            <a:avLst>
              <a:gd name="adj" fmla="val 6429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55430" y="1892808"/>
            <a:ext cx="2375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41.188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55430" y="2551176"/>
            <a:ext cx="23751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contatos reais (UCI)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ACUMULADO POR POLÍTICA (R$ · 6.000 rodadas)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057400" y="3739896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A9E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42048" y="3703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R$ 114.290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42336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4270248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057400" y="4270248"/>
            <a:ext cx="5027852" cy="292608"/>
          </a:xfrm>
          <a:prstGeom prst="roundRect">
            <a:avLst>
              <a:gd name="adj" fmla="val 12500"/>
            </a:avLst>
          </a:prstGeom>
          <a:solidFill>
            <a:srgbClr val="3291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194980" y="42336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R$ 113.230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764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57400" y="4800600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2057400" y="4800600"/>
            <a:ext cx="4649087" cy="292608"/>
          </a:xfrm>
          <a:prstGeom prst="roundRect">
            <a:avLst>
              <a:gd name="adj" fmla="val 12500"/>
            </a:avLst>
          </a:prstGeom>
          <a:solidFill>
            <a:srgbClr val="52525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6215" y="47640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R$ 104.700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294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57400" y="5330952"/>
            <a:ext cx="5074920" cy="292608"/>
          </a:xfrm>
          <a:prstGeom prst="roundRect">
            <a:avLst>
              <a:gd name="adj" fmla="val 12500"/>
            </a:avLst>
          </a:prstGeom>
          <a:solidFill>
            <a:srgbClr val="1616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2057400" y="5330952"/>
            <a:ext cx="4530084" cy="292608"/>
          </a:xfrm>
          <a:prstGeom prst="roundRect">
            <a:avLst>
              <a:gd name="adj" fmla="val 12500"/>
            </a:avLst>
          </a:prstGeom>
          <a:solidFill>
            <a:srgbClr val="E840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697212" y="5294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R$ 102.020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42832" y="3200400"/>
            <a:ext cx="2679192" cy="2743200"/>
          </a:xfrm>
          <a:prstGeom prst="roundRect">
            <a:avLst>
              <a:gd name="adj" fmla="val 3072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217152" y="338328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LEITURA HONESTA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217152" y="3657600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real, mas modesto </a:t>
            </a: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(~+8–9%) — realista, sem número mágico.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17152" y="4480560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aposta 85% no Empréstimo; o LinUCB diversifica pelo contexto → </a:t>
            </a:r>
            <a:r>
              <a:rPr lang="en-US" sz="1200" b="1" dirty="0">
                <a:solidFill>
                  <a:srgbClr val="1A9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 e maior conversão.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17152" y="55046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bandit vence: </a:t>
            </a: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Nilos-UCB ficou abaixo do baseline (−2,6%).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DEMONSTRAÇÃO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superfícies demonstráveis — ao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298948" cy="82296"/>
          </a:xfrm>
          <a:prstGeom prst="rect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86968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Console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37076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· :3000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decisão interativo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= P × margem por oferta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do assistente (LLM/RAG)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874520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23076" y="1874520"/>
            <a:ext cx="5298948" cy="82296"/>
          </a:xfrm>
          <a:prstGeom prst="rect">
            <a:avLst/>
          </a:prstGeom>
          <a:solidFill>
            <a:srgbClr val="1A9E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43116" y="2093976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Swagger / OpenAPI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93224" y="20939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43116" y="2587752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interativo da API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POST /decide no navegador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exemplos e reason codes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66928" y="3904488"/>
            <a:ext cx="5298948" cy="82296"/>
          </a:xfrm>
          <a:prstGeom prst="rect">
            <a:avLst/>
          </a:prstGeom>
          <a:solidFill>
            <a:srgbClr val="3291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86968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37076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· :8503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em tempo real + gauges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entre políticas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decisões auditáveis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3904488"/>
            <a:ext cx="5298948" cy="1755648"/>
          </a:xfrm>
          <a:prstGeom prst="roundRect">
            <a:avLst>
              <a:gd name="adj" fmla="val 4688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323076" y="3904488"/>
            <a:ext cx="5298948" cy="82296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643116" y="4123944"/>
            <a:ext cx="33329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MLflow Tracking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93224" y="412394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mlflow ui · :5001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3116" y="4617720"/>
            <a:ext cx="46588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 params + métricas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experimentos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de política (registry)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LENDO O 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cada gráfico te conta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:\Users\Dione\Desktop\datathon-7mlet-grupo-64\datathon-7mlet-grupo-64\.pptx-build/charts/c1_spark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1865376"/>
            <a:ext cx="3282696" cy="1197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acumulado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do valor capturado — subir é bom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C:\Users\Dione\Desktop\datathon-7mlet-grupo-64\datathon-7mlet-grupo-64\.pptx-build/charts/c2_gau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53128" y="1865376"/>
            <a:ext cx="3282696" cy="1197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9976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ratio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9976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do ótimo vs. alvo — menor é melhor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19872" y="175564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C:\Users\Dione\Desktop\datathon-7mlet-grupo-64\datathon-7mlet-grupo-64\.pptx-build/charts/c3_bar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0" y="1865376"/>
            <a:ext cx="3282696" cy="11978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6448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por política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56448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quanto cada algoritmo rende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66928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C:\Users\Dione\Desktop\datathon-7mlet-grupo-64\datathon-7mlet-grupo-64\.pptx-build/charts/c4_regret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656" y="4197096"/>
            <a:ext cx="3282696" cy="11978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3504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Regret acumulado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03504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que achata = a política aprendeu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43400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C:\Users\Dione\Desktop\datathon-7mlet-grupo-64\datathon-7mlet-grupo-64\.pptx-build/charts/c5_donu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53128" y="4197096"/>
            <a:ext cx="3282696" cy="11978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79976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 de ofertas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79976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escolhas — detecta degeneração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119872" y="4087368"/>
            <a:ext cx="3502152" cy="1417320"/>
          </a:xfrm>
          <a:prstGeom prst="roundRect">
            <a:avLst>
              <a:gd name="adj" fmla="val 4516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5" descr="C:\Users\Dione\Desktop\datathon-7mlet-grupo-64\datathon-7mlet-grupo-64\.pptx-build/charts/c6_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29600" y="4197096"/>
            <a:ext cx="3282696" cy="11978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6448" y="5550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Conversão por idade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56448" y="5824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da base: qual perfil converte mais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ARQUITETURA (ALVO AZURE)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Camadas claras, segurança gerenciada, escala a zero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41248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Container Apps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jobs, escala a zero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32960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32960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ADLS · Redis · PostgreSQL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2960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off/online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0352" y="192024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24672" y="210312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 / 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24672" y="237744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OpenAI · AI Search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24672" y="276148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 assistente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ML · MLflow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1248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registry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8640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32960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OBSERVABILIDADE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2960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Insights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2960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logs, traços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0352" y="3429000"/>
            <a:ext cx="3471672" cy="1234440"/>
          </a:xfrm>
          <a:prstGeom prst="roundRect">
            <a:avLst>
              <a:gd name="adj" fmla="val 6667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24672" y="3611880"/>
            <a:ext cx="292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24672" y="3886200"/>
            <a:ext cx="292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Vault · Managed ID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24672" y="4270248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segredos em env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074920"/>
            <a:ext cx="11055096" cy="822960"/>
          </a:xfrm>
          <a:prstGeom prst="roundRect">
            <a:avLst>
              <a:gd name="adj" fmla="val 11111"/>
            </a:avLst>
          </a:prstGeom>
          <a:solidFill>
            <a:srgbClr val="16161A"/>
          </a:solidFill>
          <a:ln w="12700">
            <a:solidFill>
              <a:srgbClr val="2A2A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32688" y="5074920"/>
            <a:ext cx="10323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descartadas:  </a:t>
            </a: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(overhead operacional) · segredos em env (risco) · LLM externo (viola “Azure-only”).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CICLO DE VIDA MLOPS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feature store ao monitoramento de drift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41248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Store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(Parquet) + online (SQLite). Paridade treino/serving.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88386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99282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673602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73602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73602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Treino + Tracking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73602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versionados no MLflow; registro de políticas.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20740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31636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05956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05956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5956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 (API)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05956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OpenAPI/Swagger, reason codes e log auditável.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53094" y="2834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3990" y="1965960"/>
            <a:ext cx="2558034" cy="2286000"/>
          </a:xfrm>
          <a:prstGeom prst="roundRect">
            <a:avLst>
              <a:gd name="adj" fmla="val 3600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338310" y="2212848"/>
            <a:ext cx="457200" cy="457200"/>
          </a:xfrm>
          <a:prstGeom prst="ellipse">
            <a:avLst/>
          </a:prstGeom>
          <a:solidFill>
            <a:srgbClr val="007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33831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38310" y="2788920"/>
            <a:ext cx="2009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de drift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38310" y="3246120"/>
            <a:ext cx="20093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+ KS, control-chart de reward, relatório EvidentlyAI.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983480"/>
            <a:ext cx="2805379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66928" y="4983480"/>
            <a:ext cx="28053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testes (unit + integração)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573475" y="4983480"/>
            <a:ext cx="1207008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3573475" y="498348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limpo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81651" y="4983480"/>
            <a:ext cx="1711757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981651" y="4983480"/>
            <a:ext cx="17117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Compose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94576" y="4983480"/>
            <a:ext cx="2300630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94576" y="4983480"/>
            <a:ext cx="230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com approval gate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396374" y="4983480"/>
            <a:ext cx="2132381" cy="457200"/>
          </a:xfrm>
          <a:prstGeom prst="roundRect">
            <a:avLst>
              <a:gd name="adj" fmla="val 50000"/>
            </a:avLst>
          </a:prstGeom>
          <a:solidFill>
            <a:srgbClr val="0C0C0E"/>
          </a:solidFill>
          <a:ln w="12700">
            <a:solidFill>
              <a:srgbClr val="0070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396374" y="4983480"/>
            <a:ext cx="21323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em 1 comando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· RISCOS · FINOPS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9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Responsável por design — e com olho no custo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32688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GOVERNANÇA &amp; RISCOS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+ System Card documentados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LGPD — sem dado pessoal real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no loop nas decisões sensíveis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de política em 1 comando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mapeados: reward hacking, manipulação de contexto, abuso do assistente — mitigados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3076" y="1965960"/>
            <a:ext cx="5298948" cy="3703320"/>
          </a:xfrm>
          <a:prstGeom prst="roundRect">
            <a:avLst>
              <a:gd name="adj" fmla="val 2222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88836" y="2194560"/>
            <a:ext cx="4567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FINOPS (ROI · TCO · ESCALA)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88836" y="2606040"/>
            <a:ext cx="45674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o ganho de valor (+8–9% na base real) dilui o custo de compute/LLM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só para explicação — não está no caminho crítico da decisão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dominado por Container Apps + Azure OpenAI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↑: réplicas + tier Redis no pico</a:t>
            </a:r>
            <a:endParaRPr lang="en-US" sz="140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2D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↓: escala a zero + cache de RAG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TREINO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treinamos na base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replay sobre os eventos reais do Bank Marketing.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margem × conversão · regret = soma das diferenças vs. oráculo · a recompensa pode chegar atrasada (delayed reward).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C:\Users\Dione\Desktop\datathon-7mlet-grupo-64\datathon-7mlet-grupo-64\.pptx-build/tech/code_tra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src/adaptive_offers/simulation/environment.py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CONTROLE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— guloso (controle)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com início otimista · sem exploração ativa.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controle exigido pelo edital — a referência que as políticas adaptativas precisam superar.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C:\Users\Dione\Desktop\datathon-7mlet-grupo-64\datathon-7mlet-grupo-64\.pptx-build/tech/code_baselin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src/adaptive_offers/bandits/baseline.py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BAYESIANO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Thompson Sampling (Beta-Bernoulli)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thomp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(1933) · Agrawal &amp; Goyal (2012).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Amostrar do posterior É a exploração: braços com pouca evidência têm posterior largo e às vezes são sorteados alto.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C:\Users\Dione\Desktop\datathon-7mlet-grupo-64\datathon-7mlet-grupo-64\.pptx-build/tech/code_thomp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src/adaptive_offers/bandits/thompson.py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UCB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Nilos-UCB — UCB-V (consciente de variância)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nil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Audibert, Munos &amp; Szepesvári (2009) — UCB-V.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bônus usa a variância empírica do braço (Welford online); ofertas de alta incerteza são exploradas mais cedo.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C:\Users\Dione\Desktop\datathon-7mlet-grupo-64\datathon-7mlet-grupo-64\.pptx-build/tech/code_nilo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APÊNDICE TÉCNICO · CONTEXTUAL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EDED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LinUCB — bandit contextual (menor regret)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4526280" cy="2240280"/>
          </a:xfrm>
          <a:prstGeom prst="roundRect">
            <a:avLst>
              <a:gd name="adj" fmla="val 3673"/>
            </a:avLst>
          </a:prstGeom>
          <a:solidFill>
            <a:srgbClr val="0C0C0E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95528" y="19385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MATEMÁTICA</a:t>
            </a:r>
            <a:endParaRPr lang="en-US" sz="1000" dirty="0"/>
          </a:p>
        </p:txBody>
      </p:sp>
      <p:pic>
        <p:nvPicPr>
          <p:cNvPr id="6" name="Image 0" descr="C:\Users\Dione\Desktop\datathon-7mlet-grupo-64\datathon-7mlet-grupo-64\.pptx-build/tech/eq_linuc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9808" y="2249424"/>
            <a:ext cx="41605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420624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9A9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5216" y="444398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Li, Chu, Langford &amp; Schapire (2010).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85216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por braço sobre o contexto + bônus de incerteza → roteia a oferta certa para o perfil certo. Na base real teve o menor regret (8,3%) e a maior conversão (9,1%); ganho de valor modesto (~+8%).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49240" y="1783080"/>
            <a:ext cx="6272784" cy="4114800"/>
          </a:xfrm>
          <a:prstGeom prst="roundRect">
            <a:avLst>
              <a:gd name="adj" fmla="val 2000"/>
            </a:avLst>
          </a:prstGeom>
          <a:solidFill>
            <a:srgbClr val="272822"/>
          </a:solidFill>
          <a:ln w="12700">
            <a:solidFill>
              <a:srgbClr val="2A2A30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C:\Users\Dione\Desktop\datathon-7mlet-grupo-64\datathon-7mlet-grupo-64\.pptx-build/tech/code_linuc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32120" y="1938528"/>
            <a:ext cx="5907024" cy="3566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554126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9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src/adaptive_offers/bandits/linucb.py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OFFERS PLATFORM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050024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200" dirty="0">
                <a:solidFill>
                  <a:srgbClr val="5A5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GRUPO 74 · FIAP PÓS-TECH 7MLET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820156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0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Calibri"/>
              </a:defRPr>
            </a:pPr>
            <a:r>
              <a:rPr sz="2000" b="1">
                <a:solidFill>
                  <a:srgbClr val="EDEDED"/>
                </a:solidFill>
              </a:rPr>
              <a:t>MLflow — Rastreamento de Experimentos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 i="0">
                <a:solidFill>
                  <a:srgbClr val="8899BB"/>
                </a:solidFill>
                <a:latin typeface="Calibri"/>
              </a:defRPr>
            </a:pPr>
            <a:r>
              <a:rPr sz="1100">
                <a:solidFill>
                  <a:srgbClr val="1A6FFF"/>
                </a:solidFill>
              </a:rPr>
              <a:t>Reprodutibilidade · Comparação de Políticas · Registro de Modelos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6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sz="1100" b="1">
                <a:solidFill>
                  <a:srgbClr val="FFC200"/>
                </a:solidFill>
              </a:rPr>
              <a:t>OBSERVABILIDADE E GOVERNANÇA DE 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1A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078992"/>
            <a:ext cx="3667760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Experiment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1 run = 1 politica simulada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params: horizon, alpha, 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metricas: reward, regret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tags: policy, stage, seed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212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1A9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62120" y="1078992"/>
            <a:ext cx="3667760" cy="347472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7184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Model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842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LinUCB e a politica ativa (v1)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842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registry em artifacts/policies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842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rollback em 1 comando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842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EDEDED"/>
                </a:solidFill>
              </a:rPr>
              <a:t>  API sempre le a versao ativa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2760" y="1078992"/>
            <a:ext cx="3667760" cy="2194560"/>
          </a:xfrm>
          <a:prstGeom prst="rect">
            <a:avLst/>
          </a:prstGeom>
          <a:solidFill>
            <a:srgbClr val="010A1A"/>
          </a:solidFill>
          <a:ln w="1905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2760" y="1078992"/>
            <a:ext cx="3667760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2488" y="1124712"/>
            <a:ext cx="34483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 i="0">
                <a:solidFill>
                  <a:srgbClr val="000000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Resultados-chave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9064" y="1490472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LinUCB: regret ratio 8,3%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9064" y="1911096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Lift +8,2% vs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9064" y="2331720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DR-OPE 19,18 [17,66-20,65]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9064" y="2752344"/>
            <a:ext cx="33751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EDEDED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  6.000 rounds, dados reais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529584"/>
            <a:ext cx="2501188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593592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Politica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12668" y="3529584"/>
            <a:ext cx="2273808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58388" y="3593592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b="1">
                <a:solidFill>
                  <a:srgbClr val="EDEDED"/>
                </a:solidFill>
              </a:rPr>
              <a:t>Reward Acum.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6476" y="3529584"/>
            <a:ext cx="1591665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32196" y="3593592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Regret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78142" y="3529584"/>
            <a:ext cx="1591665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23862" y="3593592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Conversao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9808" y="3529584"/>
            <a:ext cx="3410712" cy="36576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5528" y="3593592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Lift vs Baseline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895344"/>
            <a:ext cx="2501188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96849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Thompson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12668" y="3895344"/>
            <a:ext cx="2273808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58388" y="396849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R$ 114.290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86476" y="3895344"/>
            <a:ext cx="1591665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2196" y="396849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11,8%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78142" y="3895344"/>
            <a:ext cx="1591665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23862" y="396849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7,1%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9808" y="3895344"/>
            <a:ext cx="3410712" cy="365760"/>
          </a:xfrm>
          <a:prstGeom prst="rect">
            <a:avLst/>
          </a:prstGeom>
          <a:solidFill>
            <a:srgbClr val="03183A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5528" y="396849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 i="0">
                <a:solidFill>
                  <a:srgbClr val="FFC200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+9,2%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261104"/>
            <a:ext cx="250118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433425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LinUCB (recomendada)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12668" y="4261104"/>
            <a:ext cx="227380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58388" y="433425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R$ 113.230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86476" y="426110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32196" y="433425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8,3%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78142" y="426110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23862" y="433425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9,1%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9808" y="4261104"/>
            <a:ext cx="3410712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15528" y="433425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+8,2%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626864"/>
            <a:ext cx="250118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470001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Baseline (greedy)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12668" y="4626864"/>
            <a:ext cx="2273808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58388" y="470001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R$ 104.700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6476" y="462686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32196" y="470001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10,9%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78142" y="4626864"/>
            <a:ext cx="1591665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3862" y="470001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6,2%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9808" y="4626864"/>
            <a:ext cx="3410712" cy="365760"/>
          </a:xfrm>
          <a:prstGeom prst="rect">
            <a:avLst/>
          </a:prstGeom>
          <a:solidFill>
            <a:srgbClr val="031028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15528" y="470001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---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992624"/>
            <a:ext cx="2501188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5065776"/>
            <a:ext cx="240974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Nilos-UCB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12668" y="4992624"/>
            <a:ext cx="2273808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958388" y="5065776"/>
            <a:ext cx="2182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R$ 102.020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86476" y="4992624"/>
            <a:ext cx="1591665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32196" y="506577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17,0%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78142" y="4992624"/>
            <a:ext cx="1591665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23862" y="5065776"/>
            <a:ext cx="150022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7,1%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69808" y="4992624"/>
            <a:ext cx="3410712" cy="365760"/>
          </a:xfrm>
          <a:prstGeom prst="rect">
            <a:avLst/>
          </a:prstGeom>
          <a:solidFill>
            <a:srgbClr val="020C1E"/>
          </a:solidFill>
          <a:ln w="508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15528" y="5065776"/>
            <a:ext cx="33192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 i="0">
                <a:solidFill>
                  <a:srgbClr val="EDEDED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-2,6%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528816"/>
            <a:ext cx="11369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 i="0">
                <a:solidFill>
                  <a:srgbClr val="8899BB"/>
                </a:solidFill>
                <a:latin typeface="Calibri"/>
              </a:defRPr>
            </a:pPr>
            <a:r>
              <a:rPr sz="1000">
                <a:solidFill>
                  <a:srgbClr val="1A9E1A"/>
                </a:solidFill>
              </a:rPr>
              <a:t>LinUCB recomendado: menor regret, mais estavel em 5 seeds e aprovado no gate DR-OPE  |  6.000 rounds  |  Bank Marketing (UCI)  |  41.188 contatos reais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EDED"/>
                </a:solidFill>
                <a:latin typeface="Calibri"/>
              </a:rPr>
              <a:t>MLflow — Conversão não é lucro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99BB"/>
                </a:solidFill>
                <a:latin typeface="Calibri"/>
              </a:rPr>
              <a:t>O experimento que sustenta a tese do pitch — leitura direta dos runs</a:t>
            </a:r>
          </a:p>
        </p:txBody>
      </p:sp>
      <p:pic>
        <p:nvPicPr>
          <p:cNvPr id="7" name="Picture 6" descr="mlflow-valor-vs-conver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178040" cy="44940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0" y="960120"/>
            <a:ext cx="4023360" cy="4892040"/>
          </a:xfrm>
          <a:prstGeom prst="rect">
            <a:avLst/>
          </a:prstGeom>
          <a:solidFill>
            <a:srgbClr val="010A1A"/>
          </a:solidFill>
          <a:ln w="1905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133856"/>
            <a:ext cx="3566160" cy="23774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C200"/>
                </a:solidFill>
                <a:latin typeface="Calibri"/>
              </a:rPr>
              <a:t>A LEITURA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463040"/>
            <a:ext cx="3566160" cy="9601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EDEDED"/>
                </a:solidFill>
                <a:latin typeface="Calibri"/>
              </a:rPr>
              <a:t>O Baseline tem a MAIOR conversão (10,6%) e o MENOR valor (R$ 76.560).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542032"/>
            <a:ext cx="3566160" cy="109728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EDEDED"/>
                </a:solidFill>
                <a:latin typeface="Calibri"/>
              </a:rPr>
              <a:t>Ele empurra quase tudo para a oferta de maior margem e converte em volume — mas ignora o contexto e queima as decisões de maior valor esperado.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703320"/>
            <a:ext cx="3566160" cy="96012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EDEDED"/>
                </a:solidFill>
                <a:latin typeface="Calibri"/>
              </a:rPr>
              <a:t>O LinUCB converte MENOS (8,6%) e entrega +41% de valor: escolhe a oferta certa para o perfil certo, não a mais fácil de vender.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4773168"/>
            <a:ext cx="3566160" cy="914400"/>
          </a:xfrm>
          <a:prstGeom prst="rect">
            <a:avLst/>
          </a:prstGeom>
          <a:solidFill>
            <a:srgbClr val="030D24"/>
          </a:solidFill>
          <a:ln w="15240">
            <a:solidFill>
              <a:srgbClr val="1A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7304" y="4919472"/>
            <a:ext cx="3273552" cy="640080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1">
                <a:solidFill>
                  <a:srgbClr val="1A6FFF"/>
                </a:solidFill>
                <a:latin typeface="Calibri"/>
              </a:rPr>
              <a:t>Por isso a recompensa é ponderada por margem: value = P(conversão) × margem.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69040" cy="274320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899BB"/>
                </a:solidFill>
                <a:latin typeface="Calibri"/>
              </a:rPr>
              <a:t>Fonte: runs do MLflow (train-all, 6.000 rounds, seed=42)  |  reproduza com: python scripts/mlflow_report.py --compare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EDEDED"/>
                </a:solidFill>
                <a:latin typeface="Calibri"/>
              </a:rPr>
              <a:t>MLflow — Comparação e robustez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99BB"/>
                </a:solidFill>
                <a:latin typeface="Calibri"/>
              </a:rPr>
              <a:t>As quatro métricas que a banca olha — e por que 1 seed não decide nada</a:t>
            </a:r>
          </a:p>
        </p:txBody>
      </p:sp>
      <p:pic>
        <p:nvPicPr>
          <p:cNvPr id="7" name="Picture 6" descr="mlflow-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32688"/>
            <a:ext cx="5760720" cy="3907271"/>
          </a:xfrm>
          <a:prstGeom prst="rect">
            <a:avLst/>
          </a:prstGeom>
        </p:spPr>
      </p:pic>
      <p:pic>
        <p:nvPicPr>
          <p:cNvPr id="8" name="Picture 7" descr="mlflow-sensibilidade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32688"/>
            <a:ext cx="5669280" cy="3352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029200"/>
            <a:ext cx="11551920" cy="1207008"/>
          </a:xfrm>
          <a:prstGeom prst="rect">
            <a:avLst/>
          </a:prstGeom>
          <a:solidFill>
            <a:srgbClr val="010A1A"/>
          </a:solidFill>
          <a:ln w="1905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5148072"/>
            <a:ext cx="11131296" cy="237744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FC200"/>
                </a:solidFill>
                <a:latin typeface="Calibri"/>
              </a:rPr>
              <a:t>O QUE ISSO SIGNIFICA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5458968"/>
            <a:ext cx="5257800" cy="6583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EDEDED"/>
                </a:solidFill>
                <a:latin typeface="Calibri"/>
              </a:rPr>
              <a:t>LinUCB tem o MENOR regret (9,7%) — e o baseline, sem exploração, o maior (36,7%). Explorar ~20% do tráfego se paga.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458968"/>
            <a:ext cx="5257800" cy="658368"/>
          </a:xfrm>
          <a:prstGeom prst="rect">
            <a:avLst/>
          </a:prstGeom>
          <a:noFill/>
        </p:spPr>
        <p:txBody>
          <a:bodyPr wrap="square" lIns="36576" tIns="0" rIns="36576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EDEDED"/>
                </a:solidFill>
                <a:latin typeface="Calibri"/>
              </a:rPr>
              <a:t>Trocando só a seed, o baseline varia +37%. Por isso a conclusão do relatório usa 5 seeds: LinUCB lidera na média, com CV de 2,97%.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46520"/>
            <a:ext cx="11369040" cy="274320"/>
          </a:xfrm>
          <a:prstGeom prst="rect">
            <a:avLst/>
          </a:prstGeom>
          <a:noFill/>
        </p:spPr>
        <p:txBody>
          <a:bodyPr wrap="none" lIns="36576" tIns="0" rIns="36576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899BB"/>
                </a:solidFill>
                <a:latin typeface="Calibri"/>
              </a:rPr>
              <a:t>Esquerda: MLflow, seed=42  |  Direita: seed=42 (train-all) vs seed=123 (evaluate — a fonte do slide 09)  |  6.000 rounds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2000" cy="676656"/>
          </a:xfrm>
          <a:prstGeom prst="rect">
            <a:avLst/>
          </a:prstGeom>
          <a:solidFill>
            <a:srgbClr val="01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1136904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Calibri"/>
              </a:defRPr>
            </a:pPr>
            <a:r>
              <a:rPr sz="2000" b="1">
                <a:solidFill>
                  <a:srgbClr val="EDEDED"/>
                </a:solidFill>
              </a:rPr>
              <a:t>API REST — Servico de Decisao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93776"/>
            <a:ext cx="113690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 i="0">
                <a:solidFill>
                  <a:srgbClr val="8899BB"/>
                </a:solidFill>
                <a:latin typeface="Calibri"/>
              </a:defRPr>
            </a:pPr>
            <a:r>
              <a:rPr sz="1100">
                <a:solidFill>
                  <a:srgbClr val="1A6FFF"/>
                </a:solidFill>
              </a:rPr>
              <a:t>FastAPI · 14 endpoints · auditavel · 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6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sz="1100" b="1">
                <a:solidFill>
                  <a:srgbClr val="FFC200"/>
                </a:solidFill>
              </a:rPr>
              <a:t>CONTRATO DE DECISAO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33856"/>
            <a:ext cx="621792" cy="347472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848" y="1133856"/>
            <a:ext cx="393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521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11704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Liveness + readiness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5361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1591056"/>
            <a:ext cx="621792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848" y="1591056"/>
            <a:ext cx="393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609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6276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Politica ativa - nome, versao, metricas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9933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048256"/>
            <a:ext cx="621792" cy="347472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848" y="2048256"/>
            <a:ext cx="393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0665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20848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Catalogo de 6 ofertas - margem, suitability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4505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2505456"/>
            <a:ext cx="621792" cy="34747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780" y="2505456"/>
            <a:ext cx="4651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5237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2424" y="25420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Contexto -&gt; decisao auditavel + reason_codes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077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2962656"/>
            <a:ext cx="621792" cy="347472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780" y="2962656"/>
            <a:ext cx="4651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000000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9809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/assistant/explain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92424" y="29992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Decide + LLM+RAG - resposta em linguagem natural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3649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3419856"/>
            <a:ext cx="621792" cy="347472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848" y="3419856"/>
            <a:ext cx="393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4381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2424" y="34564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Matriz de comparacao de politicas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22192"/>
            <a:ext cx="11369040" cy="6350"/>
          </a:xfrm>
          <a:prstGeom prst="rect">
            <a:avLst/>
          </a:prstGeom>
          <a:solidFill>
            <a:srgbClr val="0D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1480" y="3877056"/>
            <a:ext cx="621792" cy="347472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5848" y="3877056"/>
            <a:ext cx="3930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3895344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Consolas"/>
              </a:defRPr>
            </a:pPr>
            <a:r>
              <a:rPr b="1">
                <a:solidFill>
                  <a:srgbClr val="FFC200"/>
                </a:solidFill>
              </a:rPr>
              <a:t>/metrics/regret-curve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92424" y="3913632"/>
            <a:ext cx="8369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>
                <a:solidFill>
                  <a:srgbClr val="EDEDED"/>
                </a:solidFill>
              </a:rPr>
              <a:t>Curvas de regret acumulado para visualizacao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480560"/>
            <a:ext cx="11369040" cy="731520"/>
          </a:xfrm>
          <a:prstGeom prst="rect">
            <a:avLst/>
          </a:prstGeom>
          <a:solidFill>
            <a:srgbClr val="010A1A"/>
          </a:solidFill>
          <a:ln w="12700">
            <a:solidFill>
              <a:srgbClr val="0D1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4572000"/>
            <a:ext cx="11003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 i="0">
                <a:solidFill>
                  <a:srgbClr val="FFC200"/>
                </a:solidFill>
                <a:latin typeface="Calibri"/>
              </a:defRPr>
            </a:pPr>
            <a:r>
              <a:rPr sz="1100" b="1">
                <a:solidFill>
                  <a:srgbClr val="FFC200"/>
                </a:solidFill>
              </a:rPr>
              <a:t>FLUXO DE DECISAO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09744"/>
            <a:ext cx="11003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 i="0">
                <a:solidFill>
                  <a:srgbClr val="8899BB"/>
                </a:solidFill>
                <a:latin typeface="Calibri"/>
              </a:defRPr>
            </a:pPr>
            <a:r>
              <a:rPr sz="900">
                <a:solidFill>
                  <a:srgbClr val="EDEDED"/>
                </a:solidFill>
              </a:rPr>
              <a:t>POST /decide  -&gt;  Feature Extraction  -&gt;  Eligibility Guard  -&gt;  Bandit Policy  -&gt;  Reward Estimate  -&gt;  Audit Log  -&gt;  DecisionOut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528816"/>
            <a:ext cx="11369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0" i="0">
                <a:solidFill>
                  <a:srgbClr val="8899BB"/>
                </a:solidFill>
                <a:latin typeface="Calibri"/>
              </a:defRPr>
            </a:pPr>
            <a:r>
              <a:rPr sz="900">
                <a:solidFill>
                  <a:srgbClr val="8899BB"/>
                </a:solidFill>
              </a:rPr>
              <a:t>Swagger UI em http://localhost:8000/docs  |  Decisoes auditaveis em artifacts/decisions/audit.jsonl  |  FIAP 7MLET Grupo 74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DEDED"/>
                </a:solidFill>
              </a:rPr>
              <a:t>DASHBOARD BI — Observability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FFF"/>
                </a:solidFill>
              </a:rPr>
              <a:t>Streamlit · Tempo real · Multi-armed bandit · localhost:8503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8503920" cy="36000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200"/>
                </a:solidFill>
              </a:rPr>
              <a:t>O QUE O DASHBOARD FAZ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3192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⚡ Métricas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2697480" cy="2816352"/>
          </a:xfrm>
          <a:prstGeom prst="rect">
            <a:avLst/>
          </a:prstGeom>
          <a:solidFill>
            <a:srgbClr val="000022"/>
          </a:solidFill>
          <a:ln w="12700">
            <a:solidFill>
              <a:srgbClr val="0033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4 KPI tiles com sparklines de aprendizado
• Reward/1k, Regret ratio, Conversão, Lift
• Atualiza a cada 30s via @st.fragment
• Mostra política ativa e rodadas simuladas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27248" y="1325880"/>
            <a:ext cx="2697480" cy="384048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📡 Feed de Decisões ao Vivo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709928"/>
            <a:ext cx="2697480" cy="2816352"/>
          </a:xfrm>
          <a:prstGeom prst="rect">
            <a:avLst/>
          </a:prstGeom>
          <a:solidFill>
            <a:srgbClr val="000055"/>
          </a:solidFill>
          <a:ln w="12700">
            <a:solidFill>
              <a:srgbClr val="1A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8688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Log de auditoria em tempo real (audit.jsonl)
• Coloração: Verde = Exploit · Ciano = Explore
• Timestamps em horário local (UTC-3)
• 112+ decisões registradas e auditáveis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34456" y="1325880"/>
            <a:ext cx="2697480" cy="384048"/>
          </a:xfrm>
          <a:prstGeom prst="rect">
            <a:avLst/>
          </a:prstGeom>
          <a:solidFill>
            <a:srgbClr val="1A9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07608" y="1353312"/>
            <a:ext cx="2587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DEDED"/>
                </a:solidFill>
              </a:rPr>
              <a:t>🤖 Assistente LLM +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4456" y="1709928"/>
            <a:ext cx="2697480" cy="2816352"/>
          </a:xfrm>
          <a:prstGeom prst="rect">
            <a:avLst/>
          </a:prstGeom>
          <a:solidFill>
            <a:srgbClr val="000000"/>
          </a:solidFill>
          <a:ln w="12700">
            <a:solidFill>
              <a:srgbClr val="1A9E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25896" y="1783080"/>
            <a:ext cx="25328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DEDED"/>
                </a:solidFill>
              </a:rPr>
              <a:t>• Explica cada decisão em linguagem natural
• RAG recupera política comercial por semântica
• Modo offline (análise ML) sem custo de API
• Modo online com Claude via Anthropic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663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C200"/>
                </a:solidFill>
              </a:rPr>
              <a:t>MAIS FUNCIONALIDADES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📊 Dinâmica de Aprendizado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Heatmap multi-métrica, curvas de regret por janela, lollipop de exploração, barras de pulls por oferta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🧪 Explorador de Decisão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Simula uma decisão ao vivo via API com contexto do cliente, exibe oferta elegível com análise de valor esperado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4" y="4956048"/>
            <a:ext cx="2697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6FFF"/>
                </a:solidFill>
              </a:rPr>
              <a:t>🔬 Rastreio de Execução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5212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99BB"/>
                </a:solidFill>
              </a:rPr>
              <a:t>Trace de RAG (ms), LLM (ms), total (ms), chunks recuperados, query semântica e snippet do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0080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899BB"/>
                </a:solidFill>
              </a:rPr>
              <a:t>streamlit run dashboard/app.py --server.port 8503  |  Plotly · Pandas · @st.fragment(run_every=30)  |  FIAP 7MLET Grupo 74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29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IMPACTO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Decide, aprende e se explica.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em tempo real a oferta de maior valor esperado para cada cliente — com governança pronta para produção e decisões auditáveis.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vs. baseline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8,3%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7296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regret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79008" y="4343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9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779008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auditáveis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5806440"/>
            <a:ext cx="11055096" cy="0"/>
          </a:xfrm>
          <a:prstGeom prst="line">
            <a:avLst/>
          </a:prstGeom>
          <a:noFill/>
          <a:ln w="12700">
            <a:solidFill>
              <a:srgbClr val="3A3A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692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Dione Braga · Grupo 74 · FIAP Pós-Tech 7MLET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64424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29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2725</Words>
  <Application>Microsoft Office PowerPoint</Application>
  <PresentationFormat>Widescreen</PresentationFormat>
  <Paragraphs>452</Paragraphs>
  <Slides>25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Pós-Tech 7MLET — Grupo 64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Offers Platform — Pitch</dc:title>
  <dc:subject>PptxGenJS Presentation</dc:subject>
  <dc:creator>Dione Braga</dc:creator>
  <cp:lastModifiedBy>Dione Braga</cp:lastModifiedBy>
  <cp:revision>2</cp:revision>
  <dcterms:created xsi:type="dcterms:W3CDTF">2026-06-18T15:19:13Z</dcterms:created>
  <dcterms:modified xsi:type="dcterms:W3CDTF">2026-08-15T23:47:02Z</dcterms:modified>
</cp:coreProperties>
</file>