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9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5" r:id="rId21"/>
    <p:sldId id="280" r:id="rId22"/>
    <p:sldId id="281" r:id="rId23"/>
    <p:sldId id="276" r:id="rId24"/>
    <p:sldId id="278" r:id="rId25"/>
    <p:sldId id="274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8549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4114800"/>
            <a:ext cx="12188952" cy="2743200"/>
          </a:xfrm>
          <a:prstGeom prst="rect">
            <a:avLst/>
          </a:prstGeom>
          <a:solidFill>
            <a:srgbClr val="000000">
              <a:alpha val="82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FIAP PÓS-TECH · 7MLET · DATATHON · GRUPO 74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187452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Adaptive Offers Platform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566928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D6D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de ofertas financeiras em tempo real com multi-armed bandits contextuais e assistente LLM/RAG.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66928" y="4114800"/>
            <a:ext cx="1989734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19897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Bandit Contextual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57830" y="4114800"/>
            <a:ext cx="1792224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2757830" y="411480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Margin-Weighted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1222" y="4114800"/>
            <a:ext cx="1397203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751222" y="4114800"/>
            <a:ext cx="139720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Ready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49594" y="4114800"/>
            <a:ext cx="705917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349594" y="4114800"/>
            <a:ext cx="7059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LGPD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5870448"/>
            <a:ext cx="164592" cy="164592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59536" y="574243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Dione Braga  ·  Grupo 74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964424" y="5760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A8A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© 2026 · Licença MIT</a:t>
            </a:r>
            <a:endParaRPr lang="en-US" sz="1100" dirty="0"/>
          </a:p>
        </p:txBody>
      </p:sp>
      <p:sp>
        <p:nvSpPr>
          <p:cNvPr id="18" name="ao_logo_badge"/>
          <p:cNvSpPr/>
          <p:nvPr/>
        </p:nvSpPr>
        <p:spPr>
          <a:xfrm>
            <a:off x="11089386" y="342138"/>
            <a:ext cx="687324" cy="687324"/>
          </a:xfrm>
          <a:prstGeom prst="roundRect">
            <a:avLst>
              <a:gd name="adj" fmla="val 28000"/>
            </a:avLst>
          </a:prstGeom>
          <a:solidFill>
            <a:srgbClr val="030D24"/>
          </a:solidFill>
          <a:ln w="19050">
            <a:solidFill>
              <a:srgbClr val="1A6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1237785" y="748284"/>
            <a:ext cx="81229" cy="140589"/>
          </a:xfrm>
          <a:prstGeom prst="roundRect">
            <a:avLst>
              <a:gd name="adj" fmla="val 35000"/>
            </a:avLst>
          </a:prstGeom>
          <a:solidFill>
            <a:srgbClr val="143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1376812" y="654558"/>
            <a:ext cx="81229" cy="234315"/>
          </a:xfrm>
          <a:prstGeom prst="roundRect">
            <a:avLst>
              <a:gd name="adj" fmla="val 35000"/>
            </a:avLst>
          </a:prstGeom>
          <a:solidFill>
            <a:srgbClr val="1A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1515839" y="545211"/>
            <a:ext cx="81229" cy="343662"/>
          </a:xfrm>
          <a:prstGeom prst="roundRect">
            <a:avLst>
              <a:gd name="adj" fmla="val 35000"/>
            </a:avLst>
          </a:prstGeom>
          <a:solidFill>
            <a:srgbClr val="003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 flipV="1">
            <a:off x="11229975" y="685800"/>
            <a:ext cx="187452" cy="101536"/>
          </a:xfrm>
          <a:prstGeom prst="line">
            <a:avLst/>
          </a:prstGeom>
          <a:ln w="2032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1417427" y="506158"/>
            <a:ext cx="140589" cy="179642"/>
          </a:xfrm>
          <a:prstGeom prst="line">
            <a:avLst/>
          </a:prstGeom>
          <a:ln w="2032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11500218" y="448360"/>
            <a:ext cx="115595" cy="115595"/>
          </a:xfrm>
          <a:prstGeom prst="ellipse">
            <a:avLst/>
          </a:prstGeom>
          <a:solidFill>
            <a:srgbClr val="FFC200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30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PROBLEMA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Toda impressão é uma decisão de valor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3441192" cy="2148840"/>
          </a:xfrm>
          <a:prstGeom prst="roundRect">
            <a:avLst>
              <a:gd name="adj" fmla="val 383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59536" y="2194560"/>
            <a:ext cx="182880" cy="182880"/>
          </a:xfrm>
          <a:prstGeom prst="ellipse">
            <a:avLst/>
          </a:prstGeom>
          <a:solidFill>
            <a:srgbClr val="E840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133856" y="2103120"/>
            <a:ext cx="261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Regras fixas envelhecem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59536" y="2697480"/>
            <a:ext cx="2855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idade &gt; 60, mostre depósito.” Não aprendem com o comportamento e ficam obsoletas.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73880" y="1874520"/>
            <a:ext cx="3441192" cy="2148840"/>
          </a:xfrm>
          <a:prstGeom prst="roundRect">
            <a:avLst>
              <a:gd name="adj" fmla="val 383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666488" y="2194560"/>
            <a:ext cx="182880" cy="182880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940808" y="2103120"/>
            <a:ext cx="261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Testes A/B são lentos e caros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666488" y="2697480"/>
            <a:ext cx="2855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Queimam semanas de tráfego na variante ruim até atingir significância estatística.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180832" y="1874520"/>
            <a:ext cx="3441192" cy="2148840"/>
          </a:xfrm>
          <a:prstGeom prst="roundRect">
            <a:avLst>
              <a:gd name="adj" fmla="val 383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473440" y="2194560"/>
            <a:ext cx="182880" cy="182880"/>
          </a:xfrm>
          <a:prstGeom prst="ellipse">
            <a:avLst/>
          </a:prstGeom>
          <a:solidFill>
            <a:srgbClr val="3291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747760" y="2103120"/>
            <a:ext cx="261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Conversão ≠ lucro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473440" y="2697480"/>
            <a:ext cx="2855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Otimizar cliques ignora a margem e o contexto — você converte mais e ganha menos.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34840"/>
            <a:ext cx="11055096" cy="1371600"/>
          </a:xfrm>
          <a:prstGeom prst="roundRect">
            <a:avLst>
              <a:gd name="adj" fmla="val 6667"/>
            </a:avLst>
          </a:prstGeom>
          <a:solidFill>
            <a:srgbClr val="16161A"/>
          </a:solidFill>
          <a:ln w="17780">
            <a:solidFill>
              <a:srgbClr val="0070F3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1024128" y="4681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PERGUNTA CENTRAL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24128" y="4983480"/>
            <a:ext cx="10140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 oferta mostrar para </a:t>
            </a:r>
            <a:r>
              <a:rPr lang="en-US" sz="2600" b="1" i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este</a:t>
            </a: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cliente, </a:t>
            </a:r>
            <a:r>
              <a:rPr lang="en-US" sz="2600" b="1" i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agora</a:t>
            </a: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 para maximizar o valor?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30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ABORDAGEM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Um sistema que decide, aprende e se explica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441192" cy="3383280"/>
          </a:xfrm>
          <a:prstGeom prst="roundRect">
            <a:avLst>
              <a:gd name="adj" fmla="val 243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77824" y="2240280"/>
            <a:ext cx="512064" cy="512064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77824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77824" y="2971800"/>
            <a:ext cx="281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Bandit contextual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77824" y="3520440"/>
            <a:ext cx="2819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 vs. explota e aprende online a cada decisão — sem esperar o fim de um A/B.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77824" y="4736592"/>
            <a:ext cx="2819400" cy="0"/>
          </a:xfrm>
          <a:prstGeom prst="line">
            <a:avLst/>
          </a:prstGeom>
          <a:noFill/>
          <a:ln w="12700">
            <a:solidFill>
              <a:srgbClr val="2A2A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77824" y="4828032"/>
            <a:ext cx="281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LinUCB · Thompson · UCB-V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73880" y="1920240"/>
            <a:ext cx="3441192" cy="3383280"/>
          </a:xfrm>
          <a:prstGeom prst="roundRect">
            <a:avLst>
              <a:gd name="adj" fmla="val 243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684776" y="2240280"/>
            <a:ext cx="512064" cy="512064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684776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84776" y="2971800"/>
            <a:ext cx="281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Recompensa por margem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84776" y="3520440"/>
            <a:ext cx="2819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= P(conversão) × margem. Otimiza lucro, não cliques.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84776" y="4736592"/>
            <a:ext cx="2819400" cy="0"/>
          </a:xfrm>
          <a:prstGeom prst="line">
            <a:avLst/>
          </a:prstGeom>
          <a:noFill/>
          <a:ln w="12700">
            <a:solidFill>
              <a:srgbClr val="2A2A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684776" y="4828032"/>
            <a:ext cx="281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Margin-Weighted Ranking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80832" y="1920240"/>
            <a:ext cx="3441192" cy="3383280"/>
          </a:xfrm>
          <a:prstGeom prst="roundRect">
            <a:avLst>
              <a:gd name="adj" fmla="val 243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8491728" y="2240280"/>
            <a:ext cx="512064" cy="512064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491728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491728" y="2971800"/>
            <a:ext cx="281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Assistente LLM + RAG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91728" y="3520440"/>
            <a:ext cx="2819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experimentos e explica cada decisão com reason codes auditáveis.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491728" y="4736592"/>
            <a:ext cx="2819400" cy="0"/>
          </a:xfrm>
          <a:prstGeom prst="line">
            <a:avLst/>
          </a:prstGeom>
          <a:noFill/>
          <a:ln w="12700">
            <a:solidFill>
              <a:srgbClr val="2A2A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8491728" y="4828032"/>
            <a:ext cx="281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Explicabilidade · offline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30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DADOS &amp; ENRIQUECIMENTO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factual + camada sintética com oráculo conhecido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3258312" cy="2651760"/>
          </a:xfrm>
          <a:prstGeom prst="roundRect">
            <a:avLst>
              <a:gd name="adj" fmla="val 310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59536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59536" y="3035808"/>
            <a:ext cx="2673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factual real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9536" y="3547872"/>
            <a:ext cx="26730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Marketing real (UCI · 41.188 contatos públicos). Sem vazamento: duration removido.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34968" y="3154680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465320" y="2057400"/>
            <a:ext cx="3258312" cy="2651760"/>
          </a:xfrm>
          <a:prstGeom prst="roundRect">
            <a:avLst>
              <a:gd name="adj" fmla="val 310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757928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757928" y="3035808"/>
            <a:ext cx="2673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Camada sintética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57928" y="3547872"/>
            <a:ext cx="26730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offer_catalog, offer_events e delayed rewards gerados por seeds reprodutíveis.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833360" y="3154680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8363712" y="2057400"/>
            <a:ext cx="3258312" cy="2651760"/>
          </a:xfrm>
          <a:prstGeom prst="roundRect">
            <a:avLst>
              <a:gd name="adj" fmla="val 310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656320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656320" y="3035808"/>
            <a:ext cx="2673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Oráculo → Regret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656320" y="3547872"/>
            <a:ext cx="26730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conhecemos o ótimo do gerador, medimos regret (distância do ótimo).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5029200"/>
            <a:ext cx="11055096" cy="868680"/>
          </a:xfrm>
          <a:prstGeom prst="roundRect">
            <a:avLst>
              <a:gd name="adj" fmla="val 10526"/>
            </a:avLst>
          </a:prstGeom>
          <a:solidFill>
            <a:srgbClr val="16161A"/>
          </a:solidFill>
          <a:ln w="12700">
            <a:solidFill>
              <a:srgbClr val="2A2A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932688" y="5029200"/>
            <a:ext cx="103235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29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sintético?  </a:t>
            </a:r>
            <a:r>
              <a:rPr lang="en-US" sz="145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recompensas atrasadas, oráculo mensurável e conformidade — nenhum dado pessoal real é usado (LGPD by design).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30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MODELAGEM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Quatro políticas competindo (+1 neural)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66928" y="2075688"/>
            <a:ext cx="64008" cy="1106424"/>
          </a:xfrm>
          <a:prstGeom prst="rect">
            <a:avLst/>
          </a:prstGeom>
          <a:solidFill>
            <a:srgbClr val="5252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77824" y="2167128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Baseline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877824" y="2606040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guloso — referência para medir o lift.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7356" y="1965960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277356" y="2075688"/>
            <a:ext cx="64008" cy="1106424"/>
          </a:xfrm>
          <a:prstGeom prst="rect">
            <a:avLst/>
          </a:prstGeom>
          <a:solidFill>
            <a:srgbClr val="1A9E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6588252" y="2167128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Thompson Sampling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6588252" y="2606040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Beta-Bernoulli. Exploração probabilística por amostragem.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584448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66928" y="3694176"/>
            <a:ext cx="64008" cy="1106424"/>
          </a:xfrm>
          <a:prstGeom prst="rect">
            <a:avLst/>
          </a:prstGeom>
          <a:solidFill>
            <a:srgbClr val="3291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77824" y="3785616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Nilos-UCB (UCB-V)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877824" y="4224528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Otimismo consciente da variância do braço.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7356" y="3584448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277356" y="3694176"/>
            <a:ext cx="64008" cy="1106424"/>
          </a:xfrm>
          <a:prstGeom prst="rect">
            <a:avLst/>
          </a:prstGeom>
          <a:solidFill>
            <a:srgbClr val="0070F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588252" y="3785616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LinUCB (contextual)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6588252" y="4224528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linear sobre o contexto — menor regret nos dados reais.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66928" y="544068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9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sz="135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Bandit (PyTorch MLP, MC-dropout) como 5ª política opcional · </a:t>
            </a: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 e recompensas atrasadas tratados explicitamente.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30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 BRAÇOS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ofertas, margens diferentes — por isso a margem importa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Empréstimo Pré-aprovado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767328" y="2020824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767328" y="2020824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0643616" y="196596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R$ 300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767328" y="227685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credit · restrita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2569464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Depósito a Prazo Premium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767328" y="2624328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3767328" y="2624328"/>
            <a:ext cx="4511040" cy="274320"/>
          </a:xfrm>
          <a:prstGeom prst="roundRect">
            <a:avLst>
              <a:gd name="adj" fmla="val 50000"/>
            </a:avLst>
          </a:prstGeom>
          <a:solidFill>
            <a:srgbClr val="0070F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0643616" y="256946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R$ 200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67328" y="288036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deposit · padrão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66928" y="3172968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Fundo de Investimento Intro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767328" y="3227832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3767328" y="3227832"/>
            <a:ext cx="4059936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10643616" y="317296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R$ 180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767328" y="34838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invest · restrita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66928" y="3776472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Cartão Cashback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767328" y="3831336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3767328" y="3831336"/>
            <a:ext cx="2706624" cy="274320"/>
          </a:xfrm>
          <a:prstGeom prst="roundRect">
            <a:avLst>
              <a:gd name="adj" fmla="val 50000"/>
            </a:avLst>
          </a:prstGeom>
          <a:solidFill>
            <a:srgbClr val="0070F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10643616" y="37764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R$ 120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767328" y="408736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 · padrão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66928" y="4379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Seguro Bundle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3767328" y="4434840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3767328" y="4434840"/>
            <a:ext cx="2029968" cy="274320"/>
          </a:xfrm>
          <a:prstGeom prst="roundRect">
            <a:avLst>
              <a:gd name="adj" fmla="val 50000"/>
            </a:avLst>
          </a:prstGeom>
          <a:solidFill>
            <a:srgbClr val="0070F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10643616" y="437997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R$ 90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767328" y="469087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insurance · padrão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66928" y="498348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 Oferta (controle)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3767328" y="5038344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3767328" y="5038344"/>
            <a:ext cx="109728" cy="274320"/>
          </a:xfrm>
          <a:prstGeom prst="roundRect">
            <a:avLst>
              <a:gd name="adj" fmla="val 125000"/>
            </a:avLst>
          </a:prstGeom>
          <a:solidFill>
            <a:srgbClr val="0070F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10643616" y="49834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R$ 0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767328" y="52943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66928" y="5989320"/>
            <a:ext cx="146304" cy="146304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804672" y="59070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restrita (gate de elegibilidade/suitability)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13248" y="5989320"/>
            <a:ext cx="146304" cy="146304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5650992" y="590702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30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DECISÃO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Contexto → elegibilidade → política → log auditável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324966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324966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76656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94944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idade, canal, juros, histórico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40203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832811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3590849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590849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942539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Elegibilidade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60827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de suitability / risco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06086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98694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856732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5856732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208422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Política ativa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226710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 o braço de maior valor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071970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364578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8122615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8122615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74306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Reason codes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92594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versão da política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337853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630461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10388498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10388498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740189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 auditável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758477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rastreável (LGPD)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4160520"/>
            <a:ext cx="11055096" cy="1691640"/>
          </a:xfrm>
          <a:prstGeom prst="roundRect">
            <a:avLst>
              <a:gd name="adj" fmla="val 5405"/>
            </a:avLst>
          </a:prstGeom>
          <a:solidFill>
            <a:srgbClr val="16161A"/>
          </a:solidFill>
          <a:ln w="16510">
            <a:solidFill>
              <a:srgbClr val="1A9E1A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978408" y="43708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A9E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EXEMPLO REAL — MARGEM VENCE CONVERSÃO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78408" y="4709160"/>
            <a:ext cx="10232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Cliente 60 anos, com empréstimo ativo  →  escolhido: </a:t>
            </a:r>
            <a:r>
              <a:rPr lang="en-US" sz="19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Fundo de Investimento (R$ 15,4)</a:t>
            </a:r>
            <a:r>
              <a:rPr lang="en-US" sz="1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</a:t>
            </a:r>
            <a:endParaRPr lang="en-US" sz="1900" dirty="0"/>
          </a:p>
        </p:txBody>
      </p:sp>
      <p:sp>
        <p:nvSpPr>
          <p:cNvPr id="36" name="Text 34"/>
          <p:cNvSpPr/>
          <p:nvPr/>
        </p:nvSpPr>
        <p:spPr>
          <a:xfrm>
            <a:off x="978408" y="5212080"/>
            <a:ext cx="10232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Seguro tinha MAIOR conversão (10,9%), mas a margem baixa (R$90) perdeu para o Fundo (8,6% × R$180). A oferta de Empréstimo foi filtrada pela elegibilidade.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566928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spc="300">
                <a:solidFill>
                  <a:srgbClr val="3291FF"/>
                </a:solidFill>
                <a:latin typeface="Consolas"/>
              </a:rPr>
              <a:t>DA DECISÃO À AÇÃO · ORQUESTRAÇÃO FINTECH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EDEDED"/>
                </a:solidFill>
                <a:latin typeface="Trebuchet MS"/>
              </a:rPr>
              <a:t>Oferta → canal → mensagem → próximo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17904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9A9AA6"/>
                </a:solidFill>
                <a:latin typeface="Calibri"/>
              </a:rPr>
              <a:t>O bandit decide </a:t>
            </a:r>
            <a:r>
              <a:rPr sz="1350" b="1" i="1">
                <a:solidFill>
                  <a:srgbClr val="3291FF"/>
                </a:solidFill>
                <a:latin typeface="Calibri"/>
              </a:rPr>
              <a:t>o quê</a:t>
            </a:r>
            <a:r>
              <a:rPr sz="1350" b="0" i="0">
                <a:solidFill>
                  <a:srgbClr val="9A9AA6"/>
                </a:solidFill>
                <a:latin typeface="Calibri"/>
              </a:rPr>
              <a:t>; quatro camadas determinísticas decidem </a:t>
            </a:r>
            <a:r>
              <a:rPr sz="1350" b="1" i="1">
                <a:solidFill>
                  <a:srgbClr val="3291FF"/>
                </a:solidFill>
                <a:latin typeface="Calibri"/>
              </a:rPr>
              <a:t>onde, como e o próximo passo</a:t>
            </a:r>
            <a:r>
              <a:rPr sz="1350" b="0" i="0">
                <a:solidFill>
                  <a:srgbClr val="9A9AA6"/>
                </a:solidFill>
                <a:latin typeface="Calibri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084831"/>
            <a:ext cx="5353812" cy="1847088"/>
          </a:xfrm>
          <a:prstGeom prst="roundRect">
            <a:avLst>
              <a:gd name="adj" fmla="val 6000"/>
            </a:avLst>
          </a:prstGeom>
          <a:solidFill>
            <a:srgbClr val="0C0C0E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59536" y="2395727"/>
            <a:ext cx="182880" cy="182880"/>
          </a:xfrm>
          <a:prstGeom prst="ellipse">
            <a:avLst/>
          </a:prstGeom>
          <a:solidFill>
            <a:srgbClr val="007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70432" y="2322576"/>
            <a:ext cx="443941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0070F3"/>
                </a:solidFill>
                <a:latin typeface="Trebuchet MS"/>
              </a:rPr>
              <a:t>1</a:t>
            </a:r>
            <a:r>
              <a:rPr sz="1600" b="1" i="0">
                <a:solidFill>
                  <a:srgbClr val="EDEDED"/>
                </a:solidFill>
                <a:latin typeface="Trebuchet MS"/>
              </a:rPr>
              <a:t>  Segmentação comportamental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926079"/>
            <a:ext cx="4750307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0" i="0">
                <a:solidFill>
                  <a:srgbClr val="9A9AA6"/>
                </a:solidFill>
                <a:latin typeface="Calibri"/>
              </a:rPr>
              <a:t>6 personas determinísticas das features reais (renegociador, sênior, jovem digital…). Leitura humana do book de clientes.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8212" y="2084831"/>
            <a:ext cx="5353812" cy="1847088"/>
          </a:xfrm>
          <a:prstGeom prst="roundRect">
            <a:avLst>
              <a:gd name="adj" fmla="val 6000"/>
            </a:avLst>
          </a:prstGeom>
          <a:solidFill>
            <a:srgbClr val="0C0C0E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560820" y="2395727"/>
            <a:ext cx="182880" cy="1828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71716" y="2322576"/>
            <a:ext cx="443941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34D399"/>
                </a:solidFill>
                <a:latin typeface="Trebuchet MS"/>
              </a:rPr>
              <a:t>2</a:t>
            </a:r>
            <a:r>
              <a:rPr sz="1600" b="1" i="0">
                <a:solidFill>
                  <a:srgbClr val="EDEDED"/>
                </a:solidFill>
                <a:latin typeface="Trebuchet MS"/>
              </a:rPr>
              <a:t>  Orquestração multi-canal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9107" y="2926079"/>
            <a:ext cx="4750307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0" i="0">
                <a:solidFill>
                  <a:srgbClr val="9A9AA6"/>
                </a:solidFill>
                <a:latin typeface="Calibri"/>
              </a:rPr>
              <a:t>App push · e-mail · SMS · voz com frequency cap e horário de silêncio. Guardrail auditável com reason codes.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187952"/>
            <a:ext cx="5353812" cy="1847088"/>
          </a:xfrm>
          <a:prstGeom prst="roundRect">
            <a:avLst>
              <a:gd name="adj" fmla="val 6000"/>
            </a:avLst>
          </a:prstGeom>
          <a:solidFill>
            <a:srgbClr val="0C0C0E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59536" y="4498848"/>
            <a:ext cx="182880" cy="18288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70432" y="4425696"/>
            <a:ext cx="443941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Trebuchet MS"/>
              </a:rPr>
              <a:t>3</a:t>
            </a:r>
            <a:r>
              <a:rPr sz="1600" b="1" i="0">
                <a:solidFill>
                  <a:srgbClr val="EDEDED"/>
                </a:solidFill>
                <a:latin typeface="Trebuchet MS"/>
              </a:rPr>
              <a:t>  Next-Best-Action (NBA)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029200"/>
            <a:ext cx="4750307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0" i="0">
                <a:solidFill>
                  <a:srgbClr val="9A9AA6"/>
                </a:solidFill>
                <a:latin typeface="Calibri"/>
              </a:rPr>
              <a:t>Mensagem por template governado + próximo passo (SIMULATE_LOAN, OPEN_DEPOSIT). Nunca texto livre do LLM.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8212" y="4187952"/>
            <a:ext cx="5353812" cy="1847088"/>
          </a:xfrm>
          <a:prstGeom prst="roundRect">
            <a:avLst>
              <a:gd name="adj" fmla="val 6000"/>
            </a:avLst>
          </a:prstGeom>
          <a:solidFill>
            <a:srgbClr val="0C0C0E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560820" y="4498848"/>
            <a:ext cx="182880" cy="182880"/>
          </a:xfrm>
          <a:prstGeom prst="ellipse">
            <a:avLst/>
          </a:prstGeom>
          <a:solidFill>
            <a:srgbClr val="329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71716" y="4425696"/>
            <a:ext cx="443941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3291FF"/>
                </a:solidFill>
                <a:latin typeface="Trebuchet MS"/>
              </a:rPr>
              <a:t>4</a:t>
            </a:r>
            <a:r>
              <a:rPr sz="1600" b="1" i="0">
                <a:solidFill>
                  <a:srgbClr val="EDEDED"/>
                </a:solidFill>
                <a:latin typeface="Trebuchet MS"/>
              </a:rPr>
              <a:t>  IA responsável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9107" y="5029200"/>
            <a:ext cx="4750307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0" i="0">
                <a:solidFill>
                  <a:srgbClr val="9A9AA6"/>
                </a:solidFill>
                <a:latin typeface="Calibri"/>
              </a:rPr>
              <a:t>Atributos protegidos + fairness por grupo: exposição 0,00 · valor 0,24 (≤30) — suitability, auditado, nunca decide.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00">
                <a:solidFill>
                  <a:srgbClr val="5A5A63"/>
                </a:solidFill>
                <a:latin typeface="Consolas"/>
              </a:rPr>
              <a:t>ADAPTIVE OFFERS 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 i="0" spc="200">
                <a:solidFill>
                  <a:srgbClr val="5A5A63"/>
                </a:solidFill>
                <a:latin typeface="Consolas"/>
              </a:rPr>
              <a:t>GRUPO 74 · FIAP PÓS-TECH 7MLET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0070F3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30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EVIDÊNCIAS · BASE REAL (KAGGLE/UCI)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 base real, o aprendizado supera a regra fixa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58368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+9,2%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58368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 valor vs. baseline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99282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3490722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8,3%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490722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regret (LinUCB)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1636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323076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9,1%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323076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conversão (LinUCB)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63990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9155430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A62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41.188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9155430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contatos reais (UCI)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66928" y="33101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 ACUMULADO POR POLÍTICA (R$ · 6.000 rodadas)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66928" y="3703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Thompson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057400" y="3739896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2057400" y="3739896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A9E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242048" y="37033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R$ 114.290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66928" y="423367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LinUCB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057400" y="4270248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2057400" y="4270248"/>
            <a:ext cx="5027852" cy="292608"/>
          </a:xfrm>
          <a:prstGeom prst="roundRect">
            <a:avLst>
              <a:gd name="adj" fmla="val 12500"/>
            </a:avLst>
          </a:prstGeom>
          <a:solidFill>
            <a:srgbClr val="3291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7194980" y="423367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R$ 113.230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47640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Baseline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057400" y="4800600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2057400" y="4800600"/>
            <a:ext cx="4649087" cy="292608"/>
          </a:xfrm>
          <a:prstGeom prst="roundRect">
            <a:avLst>
              <a:gd name="adj" fmla="val 12500"/>
            </a:avLst>
          </a:prstGeom>
          <a:solidFill>
            <a:srgbClr val="5252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6816215" y="476402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R$ 104.700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66928" y="529437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Nilos-UCB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057400" y="5330952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2057400" y="5330952"/>
            <a:ext cx="4530084" cy="292608"/>
          </a:xfrm>
          <a:prstGeom prst="roundRect">
            <a:avLst>
              <a:gd name="adj" fmla="val 12500"/>
            </a:avLst>
          </a:prstGeom>
          <a:solidFill>
            <a:srgbClr val="E840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6697212" y="529437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R$ 102.020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942832" y="3200400"/>
            <a:ext cx="2679192" cy="2743200"/>
          </a:xfrm>
          <a:prstGeom prst="roundRect">
            <a:avLst>
              <a:gd name="adj" fmla="val 3072"/>
            </a:avLst>
          </a:prstGeom>
          <a:solidFill>
            <a:srgbClr val="16161A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9217152" y="3383280"/>
            <a:ext cx="2130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LEITURA HONESTA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217152" y="3657600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 real, mas modesto </a:t>
            </a: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(~+8–9%) — realista, sem número mágico.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217152" y="4480560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aposta 85% no Empréstimo; o LinUCB diversifica pelo contexto → </a:t>
            </a:r>
            <a:r>
              <a:rPr lang="en-US" sz="1200" b="1" dirty="0">
                <a:solidFill>
                  <a:srgbClr val="1A9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regret e maior conversão.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217152" y="5504688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todo bandit vence: </a:t>
            </a: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Nilos-UCB ficou abaixo do baseline (−2,6%).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0D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3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DEMONSTRAÇÃO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Quatro superfícies demonstráveis — ao vivo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298948" cy="1755648"/>
          </a:xfrm>
          <a:prstGeom prst="roundRect">
            <a:avLst>
              <a:gd name="adj" fmla="val 4688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5298948" cy="82296"/>
          </a:xfrm>
          <a:prstGeom prst="rect">
            <a:avLst/>
          </a:prstGeom>
          <a:solidFill>
            <a:srgbClr val="0070F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86968" y="2093976"/>
            <a:ext cx="3332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Console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037076" y="209397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· :3000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2587752"/>
            <a:ext cx="46588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Explorador de decisão interativo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= P × margem por oferta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Explicação do assistente (LLM/RAG)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23076" y="1874520"/>
            <a:ext cx="5298948" cy="1755648"/>
          </a:xfrm>
          <a:prstGeom prst="roundRect">
            <a:avLst>
              <a:gd name="adj" fmla="val 4688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323076" y="1874520"/>
            <a:ext cx="5298948" cy="82296"/>
          </a:xfrm>
          <a:prstGeom prst="rect">
            <a:avLst/>
          </a:prstGeom>
          <a:solidFill>
            <a:srgbClr val="1A9E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643116" y="2093976"/>
            <a:ext cx="3332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Swagger / OpenAPI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793224" y="209397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· /docs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43116" y="2587752"/>
            <a:ext cx="46588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interativo da API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 POST /decide no navegador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Schemas, exemplos e reason codes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3904488"/>
            <a:ext cx="5298948" cy="1755648"/>
          </a:xfrm>
          <a:prstGeom prst="roundRect">
            <a:avLst>
              <a:gd name="adj" fmla="val 4688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66928" y="3904488"/>
            <a:ext cx="5298948" cy="82296"/>
          </a:xfrm>
          <a:prstGeom prst="rect">
            <a:avLst/>
          </a:prstGeom>
          <a:solidFill>
            <a:srgbClr val="3291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86968" y="4123944"/>
            <a:ext cx="3332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Observability Board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037076" y="4123944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Streamlit · :8503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4617720"/>
            <a:ext cx="46588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em tempo real + gauges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entre políticas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de decisões auditáveis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23076" y="3904488"/>
            <a:ext cx="5298948" cy="1755648"/>
          </a:xfrm>
          <a:prstGeom prst="roundRect">
            <a:avLst>
              <a:gd name="adj" fmla="val 4688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6323076" y="3904488"/>
            <a:ext cx="5298948" cy="82296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643116" y="4123944"/>
            <a:ext cx="3332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MLflow Tracking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793224" y="4123944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mlflow ui · :5001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43116" y="4617720"/>
            <a:ext cx="46588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com params + métricas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de experimentos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Versões de política (registry)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kern="0" spc="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30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LENDO O BOARD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que cada gráfico te conta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5564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Dione\Desktop\datathon-7mlet-grupo-64\datathon-7mlet-grupo-64\.pptx-build/charts/c1_sparklin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6656" y="1865376"/>
            <a:ext cx="3282696" cy="11978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" y="3218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Reward acumulado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03504" y="349300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tendência do valor capturado — subir é bom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43400" y="175564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1" descr="C:\Users\Dione\Desktop\datathon-7mlet-grupo-64\datathon-7mlet-grupo-64\.pptx-build/charts/c2_gauge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453128" y="1865376"/>
            <a:ext cx="3282696" cy="11978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379976" y="3218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Regret ratio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379976" y="349300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distância do ótimo vs. alvo — menor é melhor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8119872" y="175564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" name="Image 2" descr="C:\Users\Dione\Desktop\datathon-7mlet-grupo-64\datathon-7mlet-grupo-64\.pptx-build/charts/c3_bars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29600" y="1865376"/>
            <a:ext cx="3282696" cy="119786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156448" y="3218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Valor por política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8156448" y="349300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de quanto cada algoritmo rende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66928" y="408736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3" descr="C:\Users\Dione\Desktop\datathon-7mlet-grupo-64\datathon-7mlet-grupo-64\.pptx-build/charts/c4_regret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76656" y="4197096"/>
            <a:ext cx="3282696" cy="119786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03504" y="55504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Regret acumulado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03504" y="582472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que achata = a política aprendeu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4343400" y="408736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1" name="Image 4" descr="C:\Users\Dione\Desktop\datathon-7mlet-grupo-64\datathon-7mlet-grupo-64\.pptx-build/charts/c5_donut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453128" y="4197096"/>
            <a:ext cx="3282696" cy="119786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4379976" y="55504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Mix de ofertas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4379976" y="582472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das escolhas — detecta degeneração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8119872" y="408736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5" name="Image 5" descr="C:\Users\Dione\Desktop\datathon-7mlet-grupo-64\datathon-7mlet-grupo-64\.pptx-build/charts/c6_age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229600" y="4197096"/>
            <a:ext cx="3282696" cy="1197864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8156448" y="55504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Conversão por idade</a:t>
            </a:r>
            <a:endParaRPr lang="en-US" sz="1400" dirty="0"/>
          </a:p>
        </p:txBody>
      </p:sp>
      <p:sp>
        <p:nvSpPr>
          <p:cNvPr id="27" name="Text 19"/>
          <p:cNvSpPr/>
          <p:nvPr/>
        </p:nvSpPr>
        <p:spPr>
          <a:xfrm>
            <a:off x="8156448" y="582472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 da base: qual perfil converte mais</a:t>
            </a:r>
            <a:endParaRPr lang="en-US" sz="1100" dirty="0"/>
          </a:p>
        </p:txBody>
      </p:sp>
      <p:sp>
        <p:nvSpPr>
          <p:cNvPr id="28" name="Text 20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9" name="Text 21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30" name="Text 22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30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ARQUITETURA (ALVO AZURE)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Camadas claras, segurança gerenciada, escala a zero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41248" y="210312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COMPUTE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41248" y="237744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Container Apps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41248" y="276148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jobs, escala a zero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92024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632960" y="210312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DADOS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632960" y="237744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ADLS · Redis · PostgreSQL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632960" y="276148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store off/online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50352" y="192024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8424672" y="210312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IA / LLM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424672" y="237744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OpenAI · AI Search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424672" y="276148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do assistente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42900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41248" y="361188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MLOPS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41248" y="388620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ML · MLflow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41248" y="427024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+ registry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58640" y="342900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632960" y="361188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OBSERVABILIDADE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32960" y="388620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Insights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632960" y="427024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métricas, logs, traços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50352" y="342900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424672" y="361188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SEGURANÇA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424672" y="388620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Vault · Managed ID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424672" y="427024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segredos em env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074920"/>
            <a:ext cx="11055096" cy="822960"/>
          </a:xfrm>
          <a:prstGeom prst="roundRect">
            <a:avLst>
              <a:gd name="adj" fmla="val 11111"/>
            </a:avLst>
          </a:prstGeom>
          <a:solidFill>
            <a:srgbClr val="16161A"/>
          </a:solidFill>
          <a:ln w="12700">
            <a:solidFill>
              <a:srgbClr val="2A2A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932688" y="5074920"/>
            <a:ext cx="10323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4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Alternativas descartadas:  </a:t>
            </a:r>
            <a:r>
              <a:rPr lang="en-US" sz="14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 (overhead operacional) · segredos em env (risco) · LLM externo (viola “Azure-only”).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30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CICLO DE VIDA MLOPS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 feature store ao monitoramento de drift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41248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41248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41248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Store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41248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(Parquet) + online (SQLite). Paridade treino/serving.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088386" y="283464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99282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3673602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673602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73602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Treino + Tracking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673602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experimentos versionados no MLflow; registro de políticas.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20740" y="283464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231636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505956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505956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05956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Serving (API)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505956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OpenAPI/Swagger, reason codes e log auditável.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753094" y="283464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063990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9338310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933831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338310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Monitor de drift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9338310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+ KS, control-chart de reward, relatório EvidentlyAI.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983480"/>
            <a:ext cx="2805379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566928" y="4983480"/>
            <a:ext cx="28053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testes (unit + integração)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573475" y="4983480"/>
            <a:ext cx="1207008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3573475" y="498348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limpo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981651" y="4983480"/>
            <a:ext cx="1711757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4981651" y="4983480"/>
            <a:ext cx="17117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/ Compose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894576" y="4983480"/>
            <a:ext cx="2300630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6894576" y="4983480"/>
            <a:ext cx="2300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com approval gate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9396374" y="4983480"/>
            <a:ext cx="2132381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9396374" y="4983480"/>
            <a:ext cx="21323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em 1 comando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30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GOVERNANÇA · RISCOS · FINOPS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Responsável por design — e com olho no custo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298948" cy="3703320"/>
          </a:xfrm>
          <a:prstGeom prst="roundRect">
            <a:avLst>
              <a:gd name="adj" fmla="val 222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32688" y="2194560"/>
            <a:ext cx="45674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GOVERNANÇA &amp; RISCOS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56742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Card + System Card documentados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LGPD — sem dado pessoal real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Humano no loop nas decisões sensíveis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de política em 1 comando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mapeados: reward hacking, manipulação de contexto, abuso do assistente — mitigados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23076" y="1965960"/>
            <a:ext cx="5298948" cy="3703320"/>
          </a:xfrm>
          <a:prstGeom prst="roundRect">
            <a:avLst>
              <a:gd name="adj" fmla="val 222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688836" y="2194560"/>
            <a:ext cx="45674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A9E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FINOPS (ROI · TCO · ESCALA)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88836" y="2606040"/>
            <a:ext cx="456742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ROI: o ganho de valor (+8–9% na base real) dilui o custo de compute/LLM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só para explicação — não está no caminho crítico da decisão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dominado por Container Apps + Azure OpenAI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↑: réplicas + tier Redis no pico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↓: escala a zero + cache de RAG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30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APÊNDICE TÉCNICO · TREINO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Como treinamos na base real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4526280" cy="2240280"/>
          </a:xfrm>
          <a:prstGeom prst="roundRect">
            <a:avLst>
              <a:gd name="adj" fmla="val 367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95528" y="193852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MATEMÁTICA</a:t>
            </a:r>
            <a:endParaRPr lang="en-US" sz="1000" dirty="0"/>
          </a:p>
        </p:txBody>
      </p:sp>
      <p:pic>
        <p:nvPicPr>
          <p:cNvPr id="6" name="Image 0" descr="C:\Users\Dione\Desktop\datathon-7mlet-grupo-64\datathon-7mlet-grupo-64\.pptx-build/tech/eq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49808" y="2249424"/>
            <a:ext cx="4160520" cy="1627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" y="42062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REFERÊNCIA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85216" y="444398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Off-policy replay sobre os eventos reais do Bank Marketing.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" y="5074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= margem × conversão · regret = soma das diferenças vs. oráculo · a recompensa pode chegar atrasada (delayed reward).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49240" y="1783080"/>
            <a:ext cx="6272784" cy="4114800"/>
          </a:xfrm>
          <a:prstGeom prst="roundRect">
            <a:avLst>
              <a:gd name="adj" fmla="val 2000"/>
            </a:avLst>
          </a:prstGeom>
          <a:solidFill>
            <a:srgbClr val="272822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" name="Image 1" descr="C:\Users\Dione\Desktop\datathon-7mlet-grupo-64\datathon-7mlet-grupo-64\.pptx-build/tech/code_train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532120" y="1938528"/>
            <a:ext cx="5907024" cy="3566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50408" y="5541264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src/adaptive_offers/simulation/environment.py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30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APÊNDICE TÉCNICO · CONTROLE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Baseline — guloso (controle)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4526280" cy="2240280"/>
          </a:xfrm>
          <a:prstGeom prst="roundRect">
            <a:avLst>
              <a:gd name="adj" fmla="val 367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95528" y="193852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MATEMÁTICA</a:t>
            </a:r>
            <a:endParaRPr lang="en-US" sz="1000" dirty="0"/>
          </a:p>
        </p:txBody>
      </p:sp>
      <p:pic>
        <p:nvPicPr>
          <p:cNvPr id="6" name="Image 0" descr="C:\Users\Dione\Desktop\datathon-7mlet-grupo-64\datathon-7mlet-grupo-64\.pptx-build/tech/eq_baselin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49808" y="2249424"/>
            <a:ext cx="4160520" cy="1627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" y="42062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REFERÊNCIA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85216" y="444398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com início otimista · sem exploração ativa.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" y="5074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controle exigido pelo edital — a referência que as políticas adaptativas precisam superar.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49240" y="1783080"/>
            <a:ext cx="6272784" cy="4114800"/>
          </a:xfrm>
          <a:prstGeom prst="roundRect">
            <a:avLst>
              <a:gd name="adj" fmla="val 2000"/>
            </a:avLst>
          </a:prstGeom>
          <a:solidFill>
            <a:srgbClr val="272822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" name="Image 1" descr="C:\Users\Dione\Desktop\datathon-7mlet-grupo-64\datathon-7mlet-grupo-64\.pptx-build/tech/code_baseline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532120" y="1938528"/>
            <a:ext cx="5907024" cy="3566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50408" y="5541264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src/adaptive_offers/bandits/baseline.py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30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APÊNDICE TÉCNICO · BAYESIANO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Thompson Sampling (Beta-Bernoulli)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4526280" cy="2240280"/>
          </a:xfrm>
          <a:prstGeom prst="roundRect">
            <a:avLst>
              <a:gd name="adj" fmla="val 367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95528" y="193852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1A9E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MATEMÁTICA</a:t>
            </a:r>
            <a:endParaRPr lang="en-US" sz="1000" dirty="0"/>
          </a:p>
        </p:txBody>
      </p:sp>
      <p:pic>
        <p:nvPicPr>
          <p:cNvPr id="6" name="Image 0" descr="C:\Users\Dione\Desktop\datathon-7mlet-grupo-64\datathon-7mlet-grupo-64\.pptx-build/tech/eq_thomps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49808" y="2249424"/>
            <a:ext cx="4160520" cy="1627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" y="42062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REFERÊNCIA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85216" y="444398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Thompson (1933) · Agrawal &amp; Goyal (2012).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" y="5074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Amostrar do posterior É a exploração: braços com pouca evidência têm posterior largo e às vezes são sorteados alto.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49240" y="1783080"/>
            <a:ext cx="6272784" cy="4114800"/>
          </a:xfrm>
          <a:prstGeom prst="roundRect">
            <a:avLst>
              <a:gd name="adj" fmla="val 2000"/>
            </a:avLst>
          </a:prstGeom>
          <a:solidFill>
            <a:srgbClr val="272822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" name="Image 1" descr="C:\Users\Dione\Desktop\datathon-7mlet-grupo-64\datathon-7mlet-grupo-64\.pptx-build/tech/code_thompson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532120" y="1938528"/>
            <a:ext cx="5907024" cy="3566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50408" y="5541264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9E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src/adaptive_offers/bandits/thompson.py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30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APÊNDICE TÉCNICO · UCB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Nilos-UCB — UCB-V (consciente de variância)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4526280" cy="2240280"/>
          </a:xfrm>
          <a:prstGeom prst="roundRect">
            <a:avLst>
              <a:gd name="adj" fmla="val 367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95528" y="193852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MATEMÁTICA</a:t>
            </a:r>
            <a:endParaRPr lang="en-US" sz="1000" dirty="0"/>
          </a:p>
        </p:txBody>
      </p:sp>
      <p:pic>
        <p:nvPicPr>
          <p:cNvPr id="6" name="Image 0" descr="C:\Users\Dione\Desktop\datathon-7mlet-grupo-64\datathon-7mlet-grupo-64\.pptx-build/tech/eq_nilo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49808" y="2249424"/>
            <a:ext cx="4160520" cy="1627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" y="42062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REFERÊNCIA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85216" y="444398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Audibert, Munos &amp; Szepesvári (2009) — UCB-V.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" y="5074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bônus usa a variância empírica do braço (Welford online); ofertas de alta incerteza são exploradas mais cedo.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49240" y="1783080"/>
            <a:ext cx="6272784" cy="4114800"/>
          </a:xfrm>
          <a:prstGeom prst="roundRect">
            <a:avLst>
              <a:gd name="adj" fmla="val 2000"/>
            </a:avLst>
          </a:prstGeom>
          <a:solidFill>
            <a:srgbClr val="272822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" name="Image 1" descr="C:\Users\Dione\Desktop\datathon-7mlet-grupo-64\datathon-7mlet-grupo-64\.pptx-build/tech/code_nilo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532120" y="1938528"/>
            <a:ext cx="5907024" cy="3566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50408" y="5541264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src/adaptive_offers/bandits/ucb.py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30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APÊNDICE TÉCNICO · CONTEXTUAL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LinUCB — bandit contextual (menor regret)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4526280" cy="2240280"/>
          </a:xfrm>
          <a:prstGeom prst="roundRect">
            <a:avLst>
              <a:gd name="adj" fmla="val 367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95528" y="193852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1A9E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MATEMÁTICA</a:t>
            </a:r>
            <a:endParaRPr lang="en-US" sz="1000" dirty="0"/>
          </a:p>
        </p:txBody>
      </p:sp>
      <p:pic>
        <p:nvPicPr>
          <p:cNvPr id="6" name="Image 0" descr="C:\Users\Dione\Desktop\datathon-7mlet-grupo-64\datathon-7mlet-grupo-64\.pptx-build/tech/eq_linucb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49808" y="2249424"/>
            <a:ext cx="4160520" cy="1627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" y="42062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REFERÊNCIA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85216" y="444398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Li, Chu, Langford &amp; Schapire (2010).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" y="5074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por braço sobre o contexto + bônus de incerteza → roteia a oferta certa para o perfil certo. Na base real teve o menor regret (8,3%) e a maior conversão (9,1%); ganho de valor modesto (~+8%).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49240" y="1783080"/>
            <a:ext cx="6272784" cy="4114800"/>
          </a:xfrm>
          <a:prstGeom prst="roundRect">
            <a:avLst>
              <a:gd name="adj" fmla="val 2000"/>
            </a:avLst>
          </a:prstGeom>
          <a:solidFill>
            <a:srgbClr val="272822"/>
          </a:solidFill>
          <a:ln w="12700">
            <a:solidFill>
              <a:srgbClr val="2A2A30"/>
            </a:solidFill>
            <a:prstDash val="solid"/>
          </a:ln>
          <a:effectLst>
            <a:outerShdw blurRad="114300" dist="38100" dir="81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" name="Image 1" descr="C:\Users\Dione\Desktop\datathon-7mlet-grupo-64\datathon-7mlet-grupo-64\.pptx-build/tech/code_linucb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532120" y="1938528"/>
            <a:ext cx="5907024" cy="3566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50408" y="5541264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9E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src/adaptive_offers/bandits/linucb.py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D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3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FFC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12192000" cy="676656"/>
          </a:xfrm>
          <a:prstGeom prst="rect">
            <a:avLst/>
          </a:prstGeom>
          <a:solidFill>
            <a:srgbClr val="01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73152"/>
            <a:ext cx="1136904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 i="0">
                <a:solidFill>
                  <a:srgbClr val="EDEDED"/>
                </a:solidFill>
                <a:latin typeface="Calibri"/>
              </a:defRPr>
            </a:pPr>
            <a:r>
              <a:rPr sz="2000" b="1">
                <a:solidFill>
                  <a:srgbClr val="EDEDED"/>
                </a:solidFill>
              </a:rPr>
              <a:t>MLflow — Rastreamento de Experimentos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93776"/>
            <a:ext cx="1136904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 i="0">
                <a:solidFill>
                  <a:srgbClr val="8899BB"/>
                </a:solidFill>
                <a:latin typeface="Calibri"/>
              </a:defRPr>
            </a:pPr>
            <a:r>
              <a:rPr sz="1100">
                <a:solidFill>
                  <a:srgbClr val="1A6FFF"/>
                </a:solidFill>
              </a:rPr>
              <a:t>Reprodutibilidade · Comparação de Políticas · Registro de Modelos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1369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 i="0">
                <a:solidFill>
                  <a:srgbClr val="FFC200"/>
                </a:solidFill>
                <a:latin typeface="Calibri"/>
              </a:defRPr>
            </a:pPr>
            <a:r>
              <a:rPr sz="1100" b="1">
                <a:solidFill>
                  <a:srgbClr val="FFC200"/>
                </a:solidFill>
              </a:rPr>
              <a:t>OBSERVABILIDADE E GOVERNANÇA DE ML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078992"/>
            <a:ext cx="3667760" cy="2194560"/>
          </a:xfrm>
          <a:prstGeom prst="rect">
            <a:avLst/>
          </a:prstGeom>
          <a:solidFill>
            <a:srgbClr val="010A1A"/>
          </a:solidFill>
          <a:ln w="19050">
            <a:solidFill>
              <a:srgbClr val="1A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1480" y="1078992"/>
            <a:ext cx="3667760" cy="347472"/>
          </a:xfrm>
          <a:prstGeom prst="rect">
            <a:avLst/>
          </a:prstGeom>
          <a:solidFill>
            <a:srgbClr val="1A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1208" y="1124712"/>
            <a:ext cx="34483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rPr b="1">
                <a:solidFill>
                  <a:srgbClr val="EDEDED"/>
                </a:solidFill>
              </a:rPr>
              <a:t>Experiment Tracking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" y="1490472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1 run = 1 politica simulada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" y="1911096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params: horizon, alpha, beta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" y="2331720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metricas: reward, regret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" y="2752344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tags: policy, stage, seed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62120" y="1078992"/>
            <a:ext cx="3667760" cy="2194560"/>
          </a:xfrm>
          <a:prstGeom prst="rect">
            <a:avLst/>
          </a:prstGeom>
          <a:solidFill>
            <a:srgbClr val="010A1A"/>
          </a:solidFill>
          <a:ln w="19050">
            <a:solidFill>
              <a:srgbClr val="1A9E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62120" y="1078992"/>
            <a:ext cx="3667760" cy="347472"/>
          </a:xfrm>
          <a:prstGeom prst="rect">
            <a:avLst/>
          </a:prstGeom>
          <a:solidFill>
            <a:srgbClr val="1A9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71848" y="1124712"/>
            <a:ext cx="34483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rPr b="1">
                <a:solidFill>
                  <a:srgbClr val="EDEDED"/>
                </a:solidFill>
              </a:rPr>
              <a:t>Model Registry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8424" y="1490472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LinUCB e a politica ativa (v1)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8424" y="1911096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registry em artifacts/policies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8424" y="2331720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rollback em 1 comando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8424" y="2752344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API sempre le a versao ativa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12760" y="1078992"/>
            <a:ext cx="3667760" cy="2194560"/>
          </a:xfrm>
          <a:prstGeom prst="rect">
            <a:avLst/>
          </a:prstGeom>
          <a:solidFill>
            <a:srgbClr val="010A1A"/>
          </a:solidFill>
          <a:ln w="19050">
            <a:solidFill>
              <a:srgbClr val="FFC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112760" y="1078992"/>
            <a:ext cx="3667760" cy="347472"/>
          </a:xfrm>
          <a:prstGeom prst="rect">
            <a:avLst/>
          </a:prstGeom>
          <a:solidFill>
            <a:srgbClr val="FFC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2488" y="1124712"/>
            <a:ext cx="34483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rPr b="1">
                <a:solidFill>
                  <a:srgbClr val="EDEDED"/>
                </a:solidFill>
              </a:rPr>
              <a:t>Resultados-chave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9064" y="1490472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1A9E1A"/>
                </a:solidFill>
              </a:rPr>
              <a:t>  LinUCB: regret ratio 8,3%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9064" y="1911096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1A9E1A"/>
                </a:solidFill>
              </a:rPr>
              <a:t>  Lift +8,2% vs baseline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9064" y="2331720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1A9E1A"/>
                </a:solidFill>
              </a:rPr>
              <a:t>  DR-OPE 19,18 [17,66-20,65]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59064" y="2752344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1A9E1A"/>
                </a:solidFill>
              </a:rPr>
              <a:t>  6.000 rounds, dados reais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3529584"/>
            <a:ext cx="2501188" cy="365760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3593592"/>
            <a:ext cx="24097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rPr b="1">
                <a:solidFill>
                  <a:srgbClr val="EDEDED"/>
                </a:solidFill>
              </a:rPr>
              <a:t>Politica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12668" y="3529584"/>
            <a:ext cx="2273808" cy="365760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958388" y="3593592"/>
            <a:ext cx="21823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rPr b="1">
                <a:solidFill>
                  <a:srgbClr val="EDEDED"/>
                </a:solidFill>
              </a:rPr>
              <a:t>Reward Acum.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86476" y="3529584"/>
            <a:ext cx="1591665" cy="365760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232196" y="3593592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Regret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78142" y="3529584"/>
            <a:ext cx="1591665" cy="365760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23862" y="3593592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Conversao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69808" y="3529584"/>
            <a:ext cx="3410712" cy="365760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415528" y="3593592"/>
            <a:ext cx="3319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rPr sz="1000">
                <a:solidFill>
                  <a:srgbClr val="1A9E1A"/>
                </a:solidFill>
              </a:rPr>
              <a:t>Lift vs Baseline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895344"/>
            <a:ext cx="2501188" cy="365760"/>
          </a:xfrm>
          <a:prstGeom prst="rect">
            <a:avLst/>
          </a:prstGeom>
          <a:solidFill>
            <a:srgbClr val="03183A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3968496"/>
            <a:ext cx="24097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C200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Thompson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12668" y="3895344"/>
            <a:ext cx="2273808" cy="365760"/>
          </a:xfrm>
          <a:prstGeom prst="rect">
            <a:avLst/>
          </a:prstGeom>
          <a:solidFill>
            <a:srgbClr val="03183A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958388" y="3968496"/>
            <a:ext cx="21823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C200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R$ 114.290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86476" y="3895344"/>
            <a:ext cx="1591665" cy="365760"/>
          </a:xfrm>
          <a:prstGeom prst="rect">
            <a:avLst/>
          </a:prstGeom>
          <a:solidFill>
            <a:srgbClr val="03183A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232196" y="396849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C200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11,8%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778142" y="3895344"/>
            <a:ext cx="1591665" cy="365760"/>
          </a:xfrm>
          <a:prstGeom prst="rect">
            <a:avLst/>
          </a:prstGeom>
          <a:solidFill>
            <a:srgbClr val="03183A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823862" y="396849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C200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7,1%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69808" y="3895344"/>
            <a:ext cx="3410712" cy="365760"/>
          </a:xfrm>
          <a:prstGeom prst="rect">
            <a:avLst/>
          </a:prstGeom>
          <a:solidFill>
            <a:srgbClr val="03183A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415528" y="3968496"/>
            <a:ext cx="3319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C200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+9,2%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4261104"/>
            <a:ext cx="2501188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57200" y="4334256"/>
            <a:ext cx="24097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LinUCB (recomendada)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12668" y="4261104"/>
            <a:ext cx="2273808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2958388" y="4334256"/>
            <a:ext cx="21823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R$ 113.230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186476" y="4261104"/>
            <a:ext cx="1591665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232196" y="433425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8,3%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778142" y="4261104"/>
            <a:ext cx="1591665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823862" y="433425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9,1%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69808" y="4261104"/>
            <a:ext cx="3410712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415528" y="4334256"/>
            <a:ext cx="3319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+8,2%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4626864"/>
            <a:ext cx="2501188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57200" y="4700016"/>
            <a:ext cx="24097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Baseline (greedy)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12668" y="4626864"/>
            <a:ext cx="2273808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958388" y="4700016"/>
            <a:ext cx="21823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R$ 104.700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186476" y="4626864"/>
            <a:ext cx="1591665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5232196" y="470001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10,9%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778142" y="4626864"/>
            <a:ext cx="1591665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823862" y="470001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6,2%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69808" y="4626864"/>
            <a:ext cx="3410712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8415528" y="4700016"/>
            <a:ext cx="3319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---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4992624"/>
            <a:ext cx="2501188" cy="365760"/>
          </a:xfrm>
          <a:prstGeom prst="rect">
            <a:avLst/>
          </a:prstGeom>
          <a:solidFill>
            <a:srgbClr val="020C1E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457200" y="5065776"/>
            <a:ext cx="24097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Nilos-UCB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912668" y="4992624"/>
            <a:ext cx="2273808" cy="365760"/>
          </a:xfrm>
          <a:prstGeom prst="rect">
            <a:avLst/>
          </a:prstGeom>
          <a:solidFill>
            <a:srgbClr val="020C1E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2958388" y="5065776"/>
            <a:ext cx="21823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R$ 102.020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86476" y="4992624"/>
            <a:ext cx="1591665" cy="365760"/>
          </a:xfrm>
          <a:prstGeom prst="rect">
            <a:avLst/>
          </a:prstGeom>
          <a:solidFill>
            <a:srgbClr val="020C1E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232196" y="506577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17,0%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778142" y="4992624"/>
            <a:ext cx="1591665" cy="365760"/>
          </a:xfrm>
          <a:prstGeom prst="rect">
            <a:avLst/>
          </a:prstGeom>
          <a:solidFill>
            <a:srgbClr val="020C1E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823862" y="506577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7,1%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69808" y="4992624"/>
            <a:ext cx="3410712" cy="365760"/>
          </a:xfrm>
          <a:prstGeom prst="rect">
            <a:avLst/>
          </a:prstGeom>
          <a:solidFill>
            <a:srgbClr val="020C1E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8415528" y="5065776"/>
            <a:ext cx="3319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-2,6%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11480" y="6528816"/>
            <a:ext cx="11369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 i="0">
                <a:solidFill>
                  <a:srgbClr val="8899BB"/>
                </a:solidFill>
                <a:latin typeface="Calibri"/>
              </a:defRPr>
            </a:pPr>
            <a:r>
              <a:rPr sz="1000">
                <a:solidFill>
                  <a:srgbClr val="1A9E1A"/>
                </a:solidFill>
              </a:rPr>
              <a:t>LinUCB recomendado: menor regret, mais estavel em 5 seeds e aprovado no gate DR-OPE  |  6.000 rounds  |  Bank Marketing (UCI)  |  41.188 contatos reais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3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FFC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12192000" cy="676656"/>
          </a:xfrm>
          <a:prstGeom prst="rect">
            <a:avLst/>
          </a:prstGeom>
          <a:solidFill>
            <a:srgbClr val="01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73152"/>
            <a:ext cx="11369040" cy="420624"/>
          </a:xfrm>
          <a:prstGeom prst="rect">
            <a:avLst/>
          </a:prstGeom>
          <a:noFill/>
        </p:spPr>
        <p:txBody>
          <a:bodyPr wrap="none" lIns="36576" tIns="0" rIns="36576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DEDED"/>
                </a:solidFill>
                <a:latin typeface="Calibri"/>
              </a:rPr>
              <a:t>MLflow — Conversão não é lucro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93776"/>
            <a:ext cx="11369040" cy="219456"/>
          </a:xfrm>
          <a:prstGeom prst="rect">
            <a:avLst/>
          </a:prstGeom>
          <a:noFill/>
        </p:spPr>
        <p:txBody>
          <a:bodyPr wrap="none" lIns="36576" tIns="0" rIns="36576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899BB"/>
                </a:solidFill>
                <a:latin typeface="Calibri"/>
              </a:rPr>
              <a:t>O experimento que sustenta a tese do pitch — leitura direta dos runs</a:t>
            </a:r>
          </a:p>
        </p:txBody>
      </p:sp>
      <p:pic>
        <p:nvPicPr>
          <p:cNvPr id="7" name="Picture 6" descr="mlflow-valor-vs-conver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7178040" cy="449407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772400" y="960120"/>
            <a:ext cx="4023360" cy="4892040"/>
          </a:xfrm>
          <a:prstGeom prst="rect">
            <a:avLst/>
          </a:prstGeom>
          <a:solidFill>
            <a:srgbClr val="010A1A"/>
          </a:solidFill>
          <a:ln w="19050">
            <a:solidFill>
              <a:srgbClr val="FFC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01000" y="1133856"/>
            <a:ext cx="3566160" cy="237744"/>
          </a:xfrm>
          <a:prstGeom prst="rect">
            <a:avLst/>
          </a:prstGeom>
          <a:noFill/>
        </p:spPr>
        <p:txBody>
          <a:bodyPr wrap="square" lIns="36576" tIns="0" rIns="36576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C200"/>
                </a:solidFill>
                <a:latin typeface="Calibri"/>
              </a:rPr>
              <a:t>A LEITURA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463040"/>
            <a:ext cx="3566160" cy="960120"/>
          </a:xfrm>
          <a:prstGeom prst="rect">
            <a:avLst/>
          </a:prstGeom>
          <a:noFill/>
        </p:spPr>
        <p:txBody>
          <a:bodyPr wrap="square" lIns="36576" tIns="0" rIns="36576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EDEDED"/>
                </a:solidFill>
                <a:latin typeface="Calibri"/>
              </a:rPr>
              <a:t>O Baseline tem a MAIOR conversão (10,6%) e o MENOR valor (R$ 76.560).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542032"/>
            <a:ext cx="3566160" cy="1097280"/>
          </a:xfrm>
          <a:prstGeom prst="rect">
            <a:avLst/>
          </a:prstGeom>
          <a:noFill/>
        </p:spPr>
        <p:txBody>
          <a:bodyPr wrap="square" lIns="36576" tIns="0" rIns="36576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EDEDED"/>
                </a:solidFill>
                <a:latin typeface="Calibri"/>
              </a:rPr>
              <a:t>Ele empurra quase tudo para a oferta de maior margem e converte em volume — mas ignora o contexto e queima as decisões de maior valor esperado.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3703320"/>
            <a:ext cx="3566160" cy="960120"/>
          </a:xfrm>
          <a:prstGeom prst="rect">
            <a:avLst/>
          </a:prstGeom>
          <a:noFill/>
        </p:spPr>
        <p:txBody>
          <a:bodyPr wrap="square" lIns="36576" tIns="0" rIns="36576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EDEDED"/>
                </a:solidFill>
                <a:latin typeface="Calibri"/>
              </a:rPr>
              <a:t>O LinUCB converte MENOS (8,6%) e entrega +41% de valor: escolhe a oferta certa para o perfil certo, não a mais fácil de vender.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4773168"/>
            <a:ext cx="3566160" cy="914400"/>
          </a:xfrm>
          <a:prstGeom prst="rect">
            <a:avLst/>
          </a:prstGeom>
          <a:solidFill>
            <a:srgbClr val="030D24"/>
          </a:solidFill>
          <a:ln w="15240">
            <a:solidFill>
              <a:srgbClr val="1A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47304" y="4919472"/>
            <a:ext cx="3273552" cy="640080"/>
          </a:xfrm>
          <a:prstGeom prst="rect">
            <a:avLst/>
          </a:prstGeom>
          <a:noFill/>
        </p:spPr>
        <p:txBody>
          <a:bodyPr wrap="square" lIns="36576" tIns="0" rIns="36576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1A6FFF"/>
                </a:solidFill>
                <a:latin typeface="Calibri"/>
              </a:rPr>
              <a:t>Por isso a recompensa é ponderada por margem: value = P(conversão) × margem.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446520"/>
            <a:ext cx="11369040" cy="274320"/>
          </a:xfrm>
          <a:prstGeom prst="rect">
            <a:avLst/>
          </a:prstGeom>
          <a:noFill/>
        </p:spPr>
        <p:txBody>
          <a:bodyPr wrap="none" lIns="36576" tIns="0" rIns="36576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899BB"/>
                </a:solidFill>
                <a:latin typeface="Calibri"/>
              </a:rPr>
              <a:t>Fonte: runs do MLflow (train-all, 6.000 rounds, seed=42)  |  reproduza com: python scripts/mlflow_report.py --compare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3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FFC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12192000" cy="676656"/>
          </a:xfrm>
          <a:prstGeom prst="rect">
            <a:avLst/>
          </a:prstGeom>
          <a:solidFill>
            <a:srgbClr val="01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73152"/>
            <a:ext cx="11369040" cy="420624"/>
          </a:xfrm>
          <a:prstGeom prst="rect">
            <a:avLst/>
          </a:prstGeom>
          <a:noFill/>
        </p:spPr>
        <p:txBody>
          <a:bodyPr wrap="none" lIns="36576" tIns="0" rIns="36576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DEDED"/>
                </a:solidFill>
                <a:latin typeface="Calibri"/>
              </a:rPr>
              <a:t>MLflow — Comparação e robustez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93776"/>
            <a:ext cx="11369040" cy="219456"/>
          </a:xfrm>
          <a:prstGeom prst="rect">
            <a:avLst/>
          </a:prstGeom>
          <a:noFill/>
        </p:spPr>
        <p:txBody>
          <a:bodyPr wrap="none" lIns="36576" tIns="0" rIns="36576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899BB"/>
                </a:solidFill>
                <a:latin typeface="Calibri"/>
              </a:rPr>
              <a:t>As quatro métricas que a banca olha — e por que 1 seed não decide nada</a:t>
            </a:r>
          </a:p>
        </p:txBody>
      </p:sp>
      <p:pic>
        <p:nvPicPr>
          <p:cNvPr id="7" name="Picture 6" descr="mlflow-metric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32688"/>
            <a:ext cx="5760720" cy="3907271"/>
          </a:xfrm>
          <a:prstGeom prst="rect">
            <a:avLst/>
          </a:prstGeom>
        </p:spPr>
      </p:pic>
      <p:pic>
        <p:nvPicPr>
          <p:cNvPr id="8" name="Picture 7" descr="mlflow-sensibilidade-s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932688"/>
            <a:ext cx="5669280" cy="3352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20040" y="5029200"/>
            <a:ext cx="11551920" cy="1207008"/>
          </a:xfrm>
          <a:prstGeom prst="rect">
            <a:avLst/>
          </a:prstGeom>
          <a:solidFill>
            <a:srgbClr val="010A1A"/>
          </a:solidFill>
          <a:ln w="19050">
            <a:solidFill>
              <a:srgbClr val="FFC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5148072"/>
            <a:ext cx="11131296" cy="237744"/>
          </a:xfrm>
          <a:prstGeom prst="rect">
            <a:avLst/>
          </a:prstGeom>
          <a:noFill/>
        </p:spPr>
        <p:txBody>
          <a:bodyPr wrap="square" lIns="36576" tIns="0" rIns="36576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C200"/>
                </a:solidFill>
                <a:latin typeface="Calibri"/>
              </a:rPr>
              <a:t>O QUE ISSO SIGNIFICA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5458968"/>
            <a:ext cx="5257800" cy="658368"/>
          </a:xfrm>
          <a:prstGeom prst="rect">
            <a:avLst/>
          </a:prstGeom>
          <a:noFill/>
        </p:spPr>
        <p:txBody>
          <a:bodyPr wrap="square" lIns="36576" tIns="0" rIns="36576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EDEDED"/>
                </a:solidFill>
                <a:latin typeface="Calibri"/>
              </a:rPr>
              <a:t>LinUCB tem o MENOR regret (9,7%) — e o baseline, sem exploração, o maior (36,7%). Explorar ~20% do tráfego se paga.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458968"/>
            <a:ext cx="5257800" cy="658368"/>
          </a:xfrm>
          <a:prstGeom prst="rect">
            <a:avLst/>
          </a:prstGeom>
          <a:noFill/>
        </p:spPr>
        <p:txBody>
          <a:bodyPr wrap="square" lIns="36576" tIns="0" rIns="36576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EDEDED"/>
                </a:solidFill>
                <a:latin typeface="Calibri"/>
              </a:rPr>
              <a:t>Trocando só a seed, o baseline varia +37%. Por isso a conclusão do relatório usa 5 seeds: LinUCB lidera na média, com CV de 2,97%.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446520"/>
            <a:ext cx="11369040" cy="274320"/>
          </a:xfrm>
          <a:prstGeom prst="rect">
            <a:avLst/>
          </a:prstGeom>
          <a:noFill/>
        </p:spPr>
        <p:txBody>
          <a:bodyPr wrap="none" lIns="36576" tIns="0" rIns="36576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899BB"/>
                </a:solidFill>
                <a:latin typeface="Calibri"/>
              </a:rPr>
              <a:t>Esquerda: MLflow, seed=42  |  Direita: seed=42 (train-all) vs seed=123 (evaluate — a fonte do slide 09)  |  6.000 rounds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D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3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FFC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12192000" cy="676656"/>
          </a:xfrm>
          <a:prstGeom prst="rect">
            <a:avLst/>
          </a:prstGeom>
          <a:solidFill>
            <a:srgbClr val="01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73152"/>
            <a:ext cx="1136904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 i="0">
                <a:solidFill>
                  <a:srgbClr val="EDEDED"/>
                </a:solidFill>
                <a:latin typeface="Calibri"/>
              </a:defRPr>
            </a:pPr>
            <a:r>
              <a:rPr sz="2000" b="1">
                <a:solidFill>
                  <a:srgbClr val="EDEDED"/>
                </a:solidFill>
              </a:rPr>
              <a:t>API REST — Servico de Decisao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93776"/>
            <a:ext cx="1136904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 i="0">
                <a:solidFill>
                  <a:srgbClr val="8899BB"/>
                </a:solidFill>
                <a:latin typeface="Calibri"/>
              </a:defRPr>
            </a:pPr>
            <a:r>
              <a:rPr sz="1100">
                <a:solidFill>
                  <a:srgbClr val="1A6FFF"/>
                </a:solidFill>
              </a:rPr>
              <a:t>FastAPI · 14 endpoints · auditavel · localhost:8000/docs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1369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 i="0">
                <a:solidFill>
                  <a:srgbClr val="FFC200"/>
                </a:solidFill>
                <a:latin typeface="Calibri"/>
              </a:defRPr>
            </a:pPr>
            <a:r>
              <a:rPr sz="1100" b="1">
                <a:solidFill>
                  <a:srgbClr val="FFC200"/>
                </a:solidFill>
              </a:rPr>
              <a:t>CONTRATO DE DECISAO EM TEMPO REAL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133856"/>
            <a:ext cx="621792" cy="347472"/>
          </a:xfrm>
          <a:prstGeom prst="rect">
            <a:avLst/>
          </a:prstGeom>
          <a:solidFill>
            <a:srgbClr val="1A9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5848" y="1133856"/>
            <a:ext cx="39305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 i="0">
                <a:solidFill>
                  <a:srgbClr val="000000"/>
                </a:solidFill>
                <a:latin typeface="Calibri"/>
              </a:defRPr>
            </a:pPr>
            <a:r>
              <a:rPr b="1" dirty="0">
                <a:solidFill>
                  <a:schemeClr val="bg1"/>
                </a:solidFill>
              </a:rPr>
              <a:t>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15214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 i="0">
                <a:solidFill>
                  <a:srgbClr val="EDEDED"/>
                </a:solidFill>
                <a:latin typeface="Consolas"/>
              </a:defRPr>
            </a:pPr>
            <a:r>
              <a:rPr b="1">
                <a:solidFill>
                  <a:srgbClr val="FFC200"/>
                </a:solidFill>
              </a:rPr>
              <a:t>/health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2424" y="1170432"/>
            <a:ext cx="83698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Liveness + readiness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536192"/>
            <a:ext cx="11369040" cy="6350"/>
          </a:xfrm>
          <a:prstGeom prst="rect">
            <a:avLst/>
          </a:prstGeom>
          <a:solidFill>
            <a:srgbClr val="0D1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1480" y="1591056"/>
            <a:ext cx="621792" cy="347472"/>
          </a:xfrm>
          <a:prstGeom prst="rect">
            <a:avLst/>
          </a:prstGeom>
          <a:solidFill>
            <a:srgbClr val="1A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5848" y="1591056"/>
            <a:ext cx="39305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rPr b="1" dirty="0">
                <a:solidFill>
                  <a:schemeClr val="bg1"/>
                </a:solidFill>
              </a:rPr>
              <a:t>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160934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 i="0">
                <a:solidFill>
                  <a:srgbClr val="EDEDED"/>
                </a:solidFill>
                <a:latin typeface="Consolas"/>
              </a:defRPr>
            </a:pPr>
            <a:r>
              <a:rPr b="1">
                <a:solidFill>
                  <a:srgbClr val="FFC200"/>
                </a:solidFill>
              </a:rPr>
              <a:t>/policy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2424" y="1627632"/>
            <a:ext cx="83698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Politica ativa - nome, versao, metricas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1993392"/>
            <a:ext cx="11369040" cy="6350"/>
          </a:xfrm>
          <a:prstGeom prst="rect">
            <a:avLst/>
          </a:prstGeom>
          <a:solidFill>
            <a:srgbClr val="0D1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1480" y="2048256"/>
            <a:ext cx="621792" cy="347472"/>
          </a:xfrm>
          <a:prstGeom prst="rect">
            <a:avLst/>
          </a:prstGeom>
          <a:solidFill>
            <a:srgbClr val="1A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5848" y="2048256"/>
            <a:ext cx="39305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rPr b="1" dirty="0">
                <a:solidFill>
                  <a:schemeClr val="bg1"/>
                </a:solidFill>
              </a:rPr>
              <a:t>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206654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 i="0">
                <a:solidFill>
                  <a:srgbClr val="EDEDED"/>
                </a:solidFill>
                <a:latin typeface="Consolas"/>
              </a:defRPr>
            </a:pPr>
            <a:r>
              <a:rPr b="1">
                <a:solidFill>
                  <a:srgbClr val="FFC200"/>
                </a:solidFill>
              </a:rPr>
              <a:t>/offers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92424" y="2084832"/>
            <a:ext cx="83698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Catalogo de 6 ofertas - margem, suitability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450592"/>
            <a:ext cx="11369040" cy="6350"/>
          </a:xfrm>
          <a:prstGeom prst="rect">
            <a:avLst/>
          </a:prstGeom>
          <a:solidFill>
            <a:srgbClr val="0D1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11480" y="2505456"/>
            <a:ext cx="621792" cy="347472"/>
          </a:xfrm>
          <a:prstGeom prst="rect">
            <a:avLst/>
          </a:prstGeom>
          <a:solidFill>
            <a:srgbClr val="FFC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89780" y="2505456"/>
            <a:ext cx="46519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 i="0">
                <a:solidFill>
                  <a:srgbClr val="000000"/>
                </a:solidFill>
                <a:latin typeface="Calibri"/>
              </a:defRPr>
            </a:pPr>
            <a:r>
              <a:rPr b="1" dirty="0">
                <a:solidFill>
                  <a:schemeClr val="bg1"/>
                </a:solidFill>
              </a:rPr>
              <a:t>POST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252374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 i="0">
                <a:solidFill>
                  <a:srgbClr val="EDEDED"/>
                </a:solidFill>
                <a:latin typeface="Consolas"/>
              </a:defRPr>
            </a:pPr>
            <a:r>
              <a:rPr b="1">
                <a:solidFill>
                  <a:srgbClr val="FFC200"/>
                </a:solidFill>
              </a:rPr>
              <a:t>/decide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92424" y="2542032"/>
            <a:ext cx="83698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Contexto -&gt; decisao auditavel + reason_codes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907792"/>
            <a:ext cx="11369040" cy="6350"/>
          </a:xfrm>
          <a:prstGeom prst="rect">
            <a:avLst/>
          </a:prstGeom>
          <a:solidFill>
            <a:srgbClr val="0D1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11480" y="2962656"/>
            <a:ext cx="621792" cy="34747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89780" y="2962656"/>
            <a:ext cx="46519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 i="0">
                <a:solidFill>
                  <a:srgbClr val="000000"/>
                </a:solidFill>
                <a:latin typeface="Calibri"/>
              </a:defRPr>
            </a:pPr>
            <a:r>
              <a:rPr b="1" dirty="0">
                <a:solidFill>
                  <a:schemeClr val="bg1"/>
                </a:solidFill>
              </a:rPr>
              <a:t>POST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298094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 i="0">
                <a:solidFill>
                  <a:srgbClr val="EDEDED"/>
                </a:solidFill>
                <a:latin typeface="Consolas"/>
              </a:defRPr>
            </a:pPr>
            <a:r>
              <a:rPr b="1">
                <a:solidFill>
                  <a:srgbClr val="FFC200"/>
                </a:solidFill>
              </a:rPr>
              <a:t>/assistant/explain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92424" y="2999232"/>
            <a:ext cx="83698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Decide + LLM+RAG - resposta em linguagem natural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364992"/>
            <a:ext cx="11369040" cy="6350"/>
          </a:xfrm>
          <a:prstGeom prst="rect">
            <a:avLst/>
          </a:prstGeom>
          <a:solidFill>
            <a:srgbClr val="0D1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11480" y="3419856"/>
            <a:ext cx="621792" cy="347472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25848" y="3419856"/>
            <a:ext cx="39305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rPr b="1" dirty="0">
                <a:solidFill>
                  <a:schemeClr val="bg1"/>
                </a:solidFill>
              </a:rPr>
              <a:t>GET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343814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 i="0">
                <a:solidFill>
                  <a:srgbClr val="EDEDED"/>
                </a:solidFill>
                <a:latin typeface="Consolas"/>
              </a:defRPr>
            </a:pPr>
            <a:r>
              <a:rPr b="1">
                <a:solidFill>
                  <a:srgbClr val="FFC200"/>
                </a:solidFill>
              </a:rPr>
              <a:t>/metrics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92424" y="3456432"/>
            <a:ext cx="83698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Matriz de comparacao de politicas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3822192"/>
            <a:ext cx="11369040" cy="6350"/>
          </a:xfrm>
          <a:prstGeom prst="rect">
            <a:avLst/>
          </a:prstGeom>
          <a:solidFill>
            <a:srgbClr val="0D1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11480" y="3877056"/>
            <a:ext cx="621792" cy="347472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25848" y="3877056"/>
            <a:ext cx="39305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rPr b="1" dirty="0">
                <a:solidFill>
                  <a:schemeClr val="bg1"/>
                </a:solidFill>
              </a:rPr>
              <a:t>GET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389534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 i="0">
                <a:solidFill>
                  <a:srgbClr val="EDEDED"/>
                </a:solidFill>
                <a:latin typeface="Consolas"/>
              </a:defRPr>
            </a:pPr>
            <a:r>
              <a:rPr b="1">
                <a:solidFill>
                  <a:srgbClr val="FFC200"/>
                </a:solidFill>
              </a:rPr>
              <a:t>/metrics/regret-curve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92424" y="3913632"/>
            <a:ext cx="83698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Curvas de regret acumulado para visualizacao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4480560"/>
            <a:ext cx="11369040" cy="731520"/>
          </a:xfrm>
          <a:prstGeom prst="rect">
            <a:avLst/>
          </a:prstGeom>
          <a:solidFill>
            <a:srgbClr val="010A1A"/>
          </a:solidFill>
          <a:ln w="1270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94360" y="4572000"/>
            <a:ext cx="110032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 i="0">
                <a:solidFill>
                  <a:srgbClr val="FFC200"/>
                </a:solidFill>
                <a:latin typeface="Calibri"/>
              </a:defRPr>
            </a:pPr>
            <a:r>
              <a:rPr sz="1100" b="1">
                <a:solidFill>
                  <a:srgbClr val="FFC200"/>
                </a:solidFill>
              </a:rPr>
              <a:t>FLUXO DE DECISAO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4809744"/>
            <a:ext cx="11003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 sz="900">
                <a:solidFill>
                  <a:srgbClr val="EDEDED"/>
                </a:solidFill>
              </a:rPr>
              <a:t>POST /decide  -&gt;  Feature Extraction  -&gt;  Eligibility Guard  -&gt;  Bandit Policy  -&gt;  Reward Estimate  -&gt;  Audit Log  -&gt;  DecisionOut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6528816"/>
            <a:ext cx="11369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 i="0">
                <a:solidFill>
                  <a:srgbClr val="8899BB"/>
                </a:solidFill>
                <a:latin typeface="Calibri"/>
              </a:defRPr>
            </a:pPr>
            <a:r>
              <a:rPr sz="900">
                <a:solidFill>
                  <a:srgbClr val="8899BB"/>
                </a:solidFill>
              </a:rPr>
              <a:t>Swagger UI em http://localhost:8000/docs  |  Decisoes auditaveis em artifacts/decisions/audit.jsonl  |  FIAP 7MLET Grupo 74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D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64592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DEDED"/>
                </a:solidFill>
              </a:rPr>
              <a:t>DASHBOARD BI — Observability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217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6FFF"/>
                </a:solidFill>
              </a:rPr>
              <a:t>Streamlit · Tempo real · Multi-armed bandit · localhost:8503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14400"/>
            <a:ext cx="8503920" cy="36000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10058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C200"/>
                </a:solidFill>
              </a:rPr>
              <a:t>O QUE O DASHBOARD FAZ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325880"/>
            <a:ext cx="2697480" cy="384048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93192" y="1353312"/>
            <a:ext cx="2587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DEDED"/>
                </a:solidFill>
              </a:rPr>
              <a:t>⚡ Métricas em Tempo Real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709928"/>
            <a:ext cx="2697480" cy="2816352"/>
          </a:xfrm>
          <a:prstGeom prst="rect">
            <a:avLst/>
          </a:prstGeom>
          <a:solidFill>
            <a:srgbClr val="000022"/>
          </a:solidFill>
          <a:ln w="12700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79" y="1783080"/>
            <a:ext cx="253288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DEDED"/>
                </a:solidFill>
              </a:rPr>
              <a:t>• 4 KPI tiles com sparklines de aprendizado
• Reward/1k, Regret ratio, Conversão, Lift
• Atualiza a cada 30s via @st.fragment
• Mostra política ativa e rodadas simuladas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27248" y="1325880"/>
            <a:ext cx="2697480" cy="384048"/>
          </a:xfrm>
          <a:prstGeom prst="rect">
            <a:avLst/>
          </a:prstGeom>
          <a:solidFill>
            <a:srgbClr val="1A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353312"/>
            <a:ext cx="2587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DEDED"/>
                </a:solidFill>
              </a:rPr>
              <a:t>📡 Feed de Decisões ao Vivo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27248" y="1709928"/>
            <a:ext cx="2697480" cy="2816352"/>
          </a:xfrm>
          <a:prstGeom prst="rect">
            <a:avLst/>
          </a:prstGeom>
          <a:solidFill>
            <a:srgbClr val="000055"/>
          </a:solidFill>
          <a:ln w="12700">
            <a:solidFill>
              <a:srgbClr val="1A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18688" y="1783080"/>
            <a:ext cx="253288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DEDED"/>
                </a:solidFill>
              </a:rPr>
              <a:t>• Log de auditoria em tempo real (audit.jsonl)
• Coloração: Verde = Exploit · Ciano = Explore
• Timestamps em horário local (UTC-3)
• 112+ decisões registradas e auditáveis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34456" y="1325880"/>
            <a:ext cx="2697480" cy="384048"/>
          </a:xfrm>
          <a:prstGeom prst="rect">
            <a:avLst/>
          </a:prstGeom>
          <a:solidFill>
            <a:srgbClr val="1A9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07608" y="1353312"/>
            <a:ext cx="2587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DEDED"/>
                </a:solidFill>
              </a:rPr>
              <a:t>🤖 Assistente LLM + RAG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34456" y="1709928"/>
            <a:ext cx="2697480" cy="2816352"/>
          </a:xfrm>
          <a:prstGeom prst="rect">
            <a:avLst/>
          </a:prstGeom>
          <a:solidFill>
            <a:srgbClr val="000000"/>
          </a:solidFill>
          <a:ln w="12700">
            <a:solidFill>
              <a:srgbClr val="1A9E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25896" y="1783080"/>
            <a:ext cx="253288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DEDED"/>
                </a:solidFill>
              </a:rPr>
              <a:t>• Explica cada decisão em linguagem natural
• RAG recupera política comercial por semântica
• Modo offline (análise ML) sem custo de API
• Modo online com Claude via Anthropic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4663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C200"/>
                </a:solidFill>
              </a:rPr>
              <a:t>MAIS FUNCIONALIDADES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495604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6FFF"/>
                </a:solidFill>
              </a:rPr>
              <a:t>📊 Dinâmica de Aprendizado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21208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99BB"/>
                </a:solidFill>
              </a:rPr>
              <a:t>Heatmap multi-métrica, curvas de regret por janela, lollipop de exploração, barras de pulls por oferta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495604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6FFF"/>
                </a:solidFill>
              </a:rPr>
              <a:t>🧪 Explorador de Decisão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36392" y="521208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99BB"/>
                </a:solidFill>
              </a:rPr>
              <a:t>Simula uma decisão ao vivo via API com contexto do cliente, exibe oferta elegível com análise de valor esperado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52744" y="495604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6FFF"/>
                </a:solidFill>
              </a:rPr>
              <a:t>🔬 Rastreio de Execução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52744" y="521208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99BB"/>
                </a:solidFill>
              </a:rPr>
              <a:t>Trace de RAG (ms), LLM (ms), total (ms), chunks recuperados, query semântica e snippet do prompt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6400800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899BB"/>
                </a:solidFill>
              </a:rPr>
              <a:t>streamlit run dashboard/app.py --server.port 8503  |  Plotly · Pandas · @st.fragment(run_every=30)  |  FIAP 7MLET Grupo 74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>
              <a:alpha val="6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IMPACTO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Decide, aprende e se explica.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66928" y="306324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D6D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 em tempo real a oferta de maior valor esperado para cada cliente — com governança pronta para produção e decisões auditáveis.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4343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+9%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66928" y="4983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 vs. baseline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172968" y="4343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8,3%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172968" y="4983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regret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779008" y="4343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5779008" y="4983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auditáveis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5806440"/>
            <a:ext cx="11055096" cy="0"/>
          </a:xfrm>
          <a:prstGeom prst="line">
            <a:avLst/>
          </a:prstGeom>
          <a:noFill/>
          <a:ln w="12700">
            <a:solidFill>
              <a:srgbClr val="3A3A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66928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Dione Braga · Grupo 74 · FIAP Pós-Tech 7MLET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964424" y="5943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Obrigado.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2725</Words>
  <Application>Microsoft Office PowerPoint</Application>
  <PresentationFormat>Widescreen</PresentationFormat>
  <Paragraphs>452</Paragraphs>
  <Slides>25</Slides>
  <Notes>19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25</vt:i4>
      </vt:variant>
    </vt:vector>
  </HeadingPairs>
  <TitlesOfParts>
    <vt:vector size="30" baseType="lpstr">
      <vt:lpstr>Arial</vt:lpstr>
      <vt:lpstr>Calibri</vt:lpstr>
      <vt:lpstr>Consolas</vt:lpstr>
      <vt:lpstr>Trebuchet MS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FIAP Pós-Tech 7MLET — Grupo 64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Adaptive Offers Platform — Pitch</dc:title>
  <dc:subject>PptxGenJS Presentation</dc:subject>
  <dc:creator>Dione Braga</dc:creator>
  <cp:lastModifiedBy>Dione Braga</cp:lastModifiedBy>
  <cp:revision>2</cp:revision>
  <dcterms:created xsi:type="dcterms:W3CDTF">2026-06-18T15:19:13Z</dcterms:created>
  <dcterms:modified xsi:type="dcterms:W3CDTF">2026-08-15T23:47:02Z</dcterms:modified>
</cp:coreProperties>
</file>